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94360"/>
            <a:ext cx="10820095" cy="566928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97680" y="16916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60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7406640" y="2130552"/>
            <a:ext cx="201168" cy="201168"/>
          </a:xfrm>
          <a:prstGeom prst="ellipse">
            <a:avLst/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880360"/>
            <a:ext cx="944849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Consumer AI Hardware Built for Joy, Not Chores.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493008"/>
            <a:ext cx="76196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0">
                <a:solidFill>
                  <a:srgbClr val="60656C"/>
                </a:solidFill>
                <a:latin typeface="Poppins"/>
              </a:defRPr>
            </a:pPr>
            <a:r>
              <a:t>Make Humans Talk Again  ·  Seed+ Investor 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08760" y="45262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4736592"/>
            <a:ext cx="2734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100% Hard-Subscription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50749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SaaS recurring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5262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736592"/>
            <a:ext cx="2734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&lt; 9 Mos  ·  $150K–$200K 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50749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Concept to 1,000 US units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526280"/>
            <a:ext cx="2880360" cy="105156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2" y="4736592"/>
            <a:ext cx="2734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50" b="1">
                <a:solidFill>
                  <a:srgbClr val="23262A"/>
                </a:solidFill>
                <a:latin typeface="Poppins"/>
              </a:defRPr>
            </a:pPr>
            <a:r>
              <a:t>6–10 Products /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507492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Powered by 1 shared backend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01 · CATEGORY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02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Everyone Builds Functional AI. We Build Fun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6217920" cy="448056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2880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8E9298"/>
                </a:solidFill>
                <a:latin typeface="Poppins"/>
              </a:defRPr>
            </a:pPr>
            <a:r>
              <a:t>CONSUMER AI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931920"/>
            <a:ext cx="5120640" cy="27432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0" y="2240280"/>
            <a:ext cx="27432" cy="3383280"/>
          </a:xfrm>
          <a:prstGeom prst="rect">
            <a:avLst/>
          </a:prstGeom>
          <a:solidFill>
            <a:srgbClr val="A8A4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402336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8E9298"/>
                </a:solidFill>
                <a:latin typeface="Poppins"/>
              </a:defRPr>
            </a:pPr>
            <a:r>
              <a:t>← Work &amp;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02336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Play &amp; Daily Joy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96596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↑ Tactile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687568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8E9298"/>
                </a:solidFill>
                <a:latin typeface="Poppins"/>
              </a:defRPr>
            </a:pPr>
            <a:r>
              <a:t>↓ Screen Chatbots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08760" y="4343400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498848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Functional AI Crowd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800600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Emails, coding, productivity</a:t>
            </a:r>
          </a:p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(99% of VC &amp; Big Tech)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08760" y="2514600"/>
            <a:ext cx="2148840" cy="109728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269748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00" b="1">
                <a:solidFill>
                  <a:srgbClr val="60656C"/>
                </a:solidFill>
                <a:latin typeface="Poppins"/>
              </a:defRPr>
            </a:pPr>
            <a:r>
              <a:t>Utility Wearables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2999232"/>
            <a:ext cx="18745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8E9298"/>
                </a:solidFill>
                <a:latin typeface="Poppins"/>
              </a:defRPr>
            </a:pPr>
            <a:r>
              <a:t>Trying to replace the smartphone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2423160"/>
            <a:ext cx="2240280" cy="1280160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260604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Banrai · “Fun AI”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944368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23262A"/>
                </a:solidFill>
                <a:latin typeface="Poppins"/>
              </a:defRPr>
            </a:pPr>
            <a:r>
              <a:t>Delightfully “useless” hardware for daily joy &amp; conversation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1600200"/>
            <a:ext cx="4050791" cy="137160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1" y="1783080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01 · COUNTER-TREND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1231" y="2020824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Delightfully “Useless”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71231" y="237744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Zero task optimization. Built purely for curiosity, laughter, and warmth.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3136391"/>
            <a:ext cx="4050791" cy="137160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71231" y="3319272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02 · UNIFYING THEME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3557015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“Make Humans Talk Again”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913631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Replaces passive screen scrolling with active voice, stories, and imagination.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672583"/>
            <a:ext cx="4050791" cy="137160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1231" y="4855464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03 · MULTI-BRAND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5093207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Ambient in Every Room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5449823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Different brands &amp; form factors—from bedside clocks to living room frames.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02 ·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03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Hardware Is the Vessel. SaaS Is the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43032" cy="178308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84708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8E9298"/>
                </a:solidFill>
                <a:latin typeface="Poppins"/>
              </a:defRPr>
            </a:pPr>
            <a:r>
              <a:t>TRADITIONAL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031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700" b="1">
                <a:solidFill>
                  <a:srgbClr val="60656C"/>
                </a:solidFill>
                <a:latin typeface="Poppins"/>
              </a:defRPr>
            </a:pPr>
            <a:r>
              <a:t>One-Time Unit Margin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8E9298"/>
                </a:solidFill>
                <a:latin typeface="Poppins"/>
              </a:defRPr>
            </a:pPr>
            <a:r>
              <a:t>Profit stops at checkout. Forced to push Gen-2 upgrades to survive.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93392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21284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50" b="1">
                <a:solidFill>
                  <a:srgbClr val="60656C"/>
                </a:solidFill>
                <a:latin typeface="Poppins"/>
              </a:defRPr>
            </a:pPr>
            <a:r>
              <a:t>Day 1: Sell 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54203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8E9298"/>
                </a:solidFill>
                <a:latin typeface="Poppins"/>
              </a:defRPr>
            </a:pPr>
            <a:r>
              <a:t>One-off hardware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400" b="1">
                <a:solidFill>
                  <a:srgbClr val="8E9298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993392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21284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50" b="1">
                <a:solidFill>
                  <a:srgbClr val="60656C"/>
                </a:solidFill>
                <a:latin typeface="Poppins"/>
              </a:defRPr>
            </a:pPr>
            <a:r>
              <a:t>Month 2–12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54203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8E9298"/>
                </a:solidFill>
                <a:latin typeface="Poppins"/>
              </a:defRPr>
            </a:pPr>
            <a:r>
              <a:t>$0 recurring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7744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400" b="1">
                <a:solidFill>
                  <a:srgbClr val="8E9298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993392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21284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150" b="1">
                <a:solidFill>
                  <a:srgbClr val="60656C"/>
                </a:solidFill>
                <a:latin typeface="Poppins"/>
              </a:defRPr>
            </a:pPr>
            <a:r>
              <a:t>Year 2+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54203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00" b="0">
                <a:solidFill>
                  <a:srgbClr val="8E9298"/>
                </a:solidFill>
                <a:latin typeface="Poppins"/>
              </a:defRPr>
            </a:pPr>
            <a:r>
              <a:t>Beg user to buy Gen-2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703320"/>
            <a:ext cx="10543032" cy="237744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905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THE BANRAI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20624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900" b="1">
                <a:solidFill>
                  <a:srgbClr val="23262A"/>
                </a:solidFill>
                <a:latin typeface="Poppins"/>
              </a:defRPr>
            </a:pPr>
            <a:r>
              <a:t>100% Hard-Subscription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910328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Real AI costs tokens—so there is no free tier. Hardware unlocks high-margin, SaaS-style recurring revenue.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977639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E1E8E0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187952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01 · UNBOX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62272"/>
            <a:ext cx="1783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Hardware + Free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95604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Ships with bundled trial months for instant magic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400" b="1">
                <a:solidFill>
                  <a:srgbClr val="58725C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3977639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CAFB5B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4187952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02 · SUBSCRIBE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462272"/>
            <a:ext cx="1783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Mandatory Monthly Fee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95604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Hard subscription keeps the AI companion alive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400" b="1">
                <a:solidFill>
                  <a:srgbClr val="58725C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3977639"/>
            <a:ext cx="2057400" cy="1828800"/>
          </a:xfrm>
          <a:prstGeom prst="roundRect">
            <a:avLst>
              <a:gd name="adj" fmla="val 6000"/>
            </a:avLst>
          </a:prstGeom>
          <a:solidFill>
            <a:srgbClr val="E1E8E0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0" y="4187952"/>
            <a:ext cx="1783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60656C"/>
                </a:solidFill>
                <a:latin typeface="Poppins"/>
              </a:defRPr>
            </a:pPr>
            <a:r>
              <a:t>03 · COMPOUND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462272"/>
            <a:ext cx="1783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200" b="1">
                <a:solidFill>
                  <a:srgbClr val="23262A"/>
                </a:solidFill>
                <a:latin typeface="Poppins"/>
              </a:defRPr>
            </a:pPr>
            <a:r>
              <a:t>Continuous SaaS Value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495604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Cloud updates stories &amp; memory—growing LTV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03 · UNFAIR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04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917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One Shared Backend Powers Dozens of Hardware Products.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6172200" cy="452628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10512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REUSABLE PLATFORM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2423160"/>
            <a:ext cx="2240280" cy="315468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905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00" b="1">
                <a:solidFill>
                  <a:srgbClr val="58725C"/>
                </a:solidFill>
                <a:latin typeface="Poppins"/>
              </a:defRPr>
            </a:pPr>
            <a:r>
              <a:t>SHARED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26080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1 Unified AI +</a:t>
            </a:r>
          </a:p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Billing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3749039"/>
            <a:ext cx="1929384" cy="402336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3840479"/>
            <a:ext cx="18196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Conversational Voice 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98448" y="4279392"/>
            <a:ext cx="1929384" cy="402336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3312" y="4370831"/>
            <a:ext cx="18196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Image &amp; Story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98448" y="4809744"/>
            <a:ext cx="1929384" cy="402336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53312" y="4901183"/>
            <a:ext cx="18196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Subscription &amp; Metering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45973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977639" y="224028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235915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01 · Living Photo Frame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236829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05409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77639" y="283464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95351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02 · Pocket Interactive Bible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296265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364845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77639" y="342900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54787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03 · Dream Printer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355701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424281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77639" y="402336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414223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04 · Voice Walkie-Talkie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415137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483717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77639" y="461772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0" y="473659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05 · Kids’ E-Ink Doodle Pad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0" y="474573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5431536"/>
            <a:ext cx="594360" cy="18288"/>
          </a:xfrm>
          <a:prstGeom prst="rect">
            <a:avLst/>
          </a:prstGeom>
          <a:solidFill>
            <a:srgbClr val="587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977639" y="5212080"/>
            <a:ext cx="2697480" cy="457200"/>
          </a:xfrm>
          <a:prstGeom prst="roundRect">
            <a:avLst>
              <a:gd name="adj" fmla="val 8000"/>
            </a:avLst>
          </a:prstGeom>
          <a:solidFill>
            <a:srgbClr val="E0E7EC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5330952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06–10+ · New Launches / Yr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340096"/>
            <a:ext cx="8046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850" b="0">
                <a:solidFill>
                  <a:srgbClr val="60656C"/>
                </a:solidFill>
                <a:latin typeface="Poppins"/>
              </a:defRPr>
            </a:pPr>
            <a:r>
              <a:t>Ongoing 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1600200"/>
            <a:ext cx="4142232" cy="452628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79" y="1810512"/>
            <a:ext cx="3611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8E9298"/>
                </a:solidFill>
                <a:latin typeface="Poppins"/>
              </a:defRPr>
            </a:pPr>
            <a:r>
              <a:t>ECONOMICS PER HARDWARE LINE (US MARKET)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2194560"/>
            <a:ext cx="3611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Time to Market (First 1,000 Units)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8079" y="2505456"/>
            <a:ext cx="3520440" cy="310896"/>
          </a:xfrm>
          <a:prstGeom prst="roundRect">
            <a:avLst>
              <a:gd name="adj" fmla="val 10000"/>
            </a:avLst>
          </a:prstGeom>
          <a:solidFill>
            <a:srgbClr val="ECE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07808" y="2560320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Traditional Hardware:  18 – 24+ Months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79" y="2889504"/>
            <a:ext cx="1691640" cy="329184"/>
          </a:xfrm>
          <a:prstGeom prst="roundRect">
            <a:avLst>
              <a:gd name="adj" fmla="val 10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7808" y="2944368"/>
            <a:ext cx="1508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00" b="1">
                <a:solidFill>
                  <a:srgbClr val="23262A"/>
                </a:solidFill>
                <a:latin typeface="Poppins"/>
              </a:defRPr>
            </a:pPr>
            <a:r>
              <a:t>Banrai: &lt; 9 Mos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3456432"/>
            <a:ext cx="3611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All-In Launch Cost (R&amp;D + First 1,000 Units)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98079" y="3767328"/>
            <a:ext cx="3520440" cy="310896"/>
          </a:xfrm>
          <a:prstGeom prst="roundRect">
            <a:avLst>
              <a:gd name="adj" fmla="val 10000"/>
            </a:avLst>
          </a:prstGeom>
          <a:solidFill>
            <a:srgbClr val="ECE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07808" y="3822191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Traditional Hardware:  $3M – $10M+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98079" y="4151376"/>
            <a:ext cx="2148840" cy="365760"/>
          </a:xfrm>
          <a:prstGeom prst="roundRect">
            <a:avLst>
              <a:gd name="adj" fmla="val 10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07808" y="4215384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Banrai: $150K – $200K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754880"/>
            <a:ext cx="3611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Unit Threshold for a Winner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98079" y="5065776"/>
            <a:ext cx="3520440" cy="77724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62672" y="519379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Single-Product Co: Must sell 10M+ units</a:t>
            </a:r>
          </a:p>
          <a:p>
            <a:pPr algn="l">
              <a:lnSpc>
                <a:spcPct val="135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Banrai Portfolio: Profitable hit at 100K+ units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04 · PRODUCT ROADMAP (US MARKET EXCLUSIVELY)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05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5 Products in Motion. 6–10 New Launches Every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4069080" cy="384048"/>
          </a:xfrm>
          <a:prstGeom prst="roundRect">
            <a:avLst>
              <a:gd name="adj" fmla="val 8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82496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WAVE 1 · DEC 2026 (1,000 US UNITS EACH · ON BUDGET)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600200"/>
            <a:ext cx="6291072" cy="384048"/>
          </a:xfrm>
          <a:prstGeom prst="roundRect">
            <a:avLst>
              <a:gd name="adj" fmla="val 8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82496"/>
            <a:ext cx="60167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23262A"/>
                </a:solidFill>
                <a:latin typeface="Poppins"/>
              </a:defRPr>
            </a:pPr>
            <a:r>
              <a:t>WAVE 2 · H1 2027 (CURRENTLY IN PROTOTYPING)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121408"/>
            <a:ext cx="1993392" cy="31546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0976" y="2249424"/>
            <a:ext cx="1737360" cy="1271016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5_01_photo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267712"/>
            <a:ext cx="1700784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639312"/>
            <a:ext cx="1664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858768"/>
            <a:ext cx="16642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Magical Living</a:t>
            </a:r>
          </a:p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Photo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80560"/>
            <a:ext cx="1664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Portraits wave hello &amp; react to live local weather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62656" y="2121408"/>
            <a:ext cx="1993392" cy="31546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90672" y="2249424"/>
            <a:ext cx="1737360" cy="1271016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5_02_bi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267712"/>
            <a:ext cx="1700784" cy="12344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27248" y="3639312"/>
            <a:ext cx="1664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DEC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3858768"/>
            <a:ext cx="16642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Pocket Interactive</a:t>
            </a:r>
          </a:p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Bible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4480560"/>
            <a:ext cx="1664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Standalone E-Ink + 4G daily Christian companion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02352" y="2121408"/>
            <a:ext cx="1993392" cy="31546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30368" y="2249424"/>
            <a:ext cx="1737360" cy="1271016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5_03_dreamprin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8656" y="2267712"/>
            <a:ext cx="1700784" cy="12344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66944" y="3639312"/>
            <a:ext cx="1664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3858768"/>
            <a:ext cx="16642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Dream</a:t>
            </a:r>
          </a:p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Printer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4480560"/>
            <a:ext cx="1664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One-button morning dream art &amp; connected diary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42048" y="2121408"/>
            <a:ext cx="1993392" cy="31546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70064" y="2249424"/>
            <a:ext cx="1737360" cy="1271016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5_04_mayd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2" y="2267712"/>
            <a:ext cx="1700784" cy="12344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06640" y="3639312"/>
            <a:ext cx="1664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858768"/>
            <a:ext cx="16642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Voice Gaming</a:t>
            </a:r>
          </a:p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Walkie-Talkie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480560"/>
            <a:ext cx="1664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Co-op voice rescue with a stranded character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81744" y="2121408"/>
            <a:ext cx="1993392" cy="315468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09760" y="2249424"/>
            <a:ext cx="1737360" cy="1271016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5_05_doodle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48" y="2267712"/>
            <a:ext cx="1700784" cy="123444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546336" y="3639312"/>
            <a:ext cx="16642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850" b="1">
                <a:solidFill>
                  <a:srgbClr val="58725C"/>
                </a:solidFill>
                <a:latin typeface="Poppins"/>
              </a:defRPr>
            </a:pPr>
            <a:r>
              <a:t>H1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6336" y="3858768"/>
            <a:ext cx="16642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Kids’ E-Ink</a:t>
            </a:r>
          </a:p>
          <a:p>
            <a:pPr algn="l">
              <a:lnSpc>
                <a:spcPct val="115000"/>
              </a:lnSpc>
              <a:defRPr sz="1300" b="1">
                <a:solidFill>
                  <a:srgbClr val="23262A"/>
                </a:solidFill>
                <a:latin typeface="Poppins"/>
              </a:defRPr>
            </a:pPr>
            <a:r>
              <a:t>Doodle Pad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6336" y="4480560"/>
            <a:ext cx="16642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defRPr sz="950" b="0">
                <a:solidFill>
                  <a:srgbClr val="60656C"/>
                </a:solidFill>
                <a:latin typeface="Poppins"/>
              </a:defRPr>
            </a:pPr>
            <a:r>
              <a:t>Turns children’s sketches into interactive comics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440680"/>
            <a:ext cx="10543032" cy="658368"/>
          </a:xfrm>
          <a:prstGeom prst="roundRect">
            <a:avLst>
              <a:gd name="adj" fmla="val 5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5650992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50" b="1">
                <a:solidFill>
                  <a:srgbClr val="23262A"/>
                </a:solidFill>
                <a:latin typeface="Poppins"/>
              </a:defRPr>
            </a:pPr>
            <a:r>
              <a:t>Deep Backlog:  Launching 6–10 new Fun AI hardware products every year.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5660136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050" b="1">
                <a:solidFill>
                  <a:srgbClr val="58725C"/>
                </a:solidFill>
                <a:latin typeface="Poppins"/>
              </a:defRPr>
            </a:pPr>
            <a:r>
              <a:t>See Appendix (A1–A3) for full product visuals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05 · DEFENSIBILITY &amp;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06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0766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Capturing the Data That Doesn’t Exist on the Internet.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5120640" cy="1143000"/>
          </a:xfrm>
          <a:prstGeom prst="roundRect">
            <a:avLst>
              <a:gd name="adj" fmla="val 4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8E9298"/>
                </a:solidFill>
                <a:latin typeface="Poppins"/>
              </a:defRPr>
            </a:pPr>
            <a:r>
              <a:t>PUBLIC INTERNET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29968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0">
                <a:solidFill>
                  <a:srgbClr val="60656C"/>
                </a:solidFill>
                <a:latin typeface="Poppins"/>
              </a:defRPr>
            </a:pPr>
            <a:r>
              <a:t>Teaches AI how to work, code, and summarize.</a:t>
            </a:r>
          </a:p>
          <a:p>
            <a:pPr algn="l">
              <a:lnSpc>
                <a:spcPct val="120000"/>
              </a:lnSpc>
              <a:defRPr sz="1100" b="0">
                <a:solidFill>
                  <a:srgbClr val="60656C"/>
                </a:solidFill>
                <a:latin typeface="Poppins"/>
              </a:defRPr>
            </a:pPr>
            <a:r>
              <a:t>Every competitor scrapes the exact same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600200"/>
            <a:ext cx="5120640" cy="1143000"/>
          </a:xfrm>
          <a:prstGeom prst="roundRect">
            <a:avLst>
              <a:gd name="adj" fmla="val 4000"/>
            </a:avLst>
          </a:prstGeom>
          <a:solidFill>
            <a:srgbClr val="CAFB5B"/>
          </a:solidFill>
          <a:ln w="1905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7830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23262A"/>
                </a:solidFill>
                <a:latin typeface="Poppins"/>
              </a:defRPr>
            </a:pPr>
            <a:r>
              <a:t>BANRAI PROPRIETARY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Captures how humans play, laugh, and wonder.</a:t>
            </a:r>
          </a:p>
          <a:p>
            <a:pPr algn="l">
              <a:lnSpc>
                <a:spcPct val="120000"/>
              </a:lnSpc>
              <a:defRPr sz="1100" b="1">
                <a:solidFill>
                  <a:srgbClr val="23262A"/>
                </a:solidFill>
                <a:latin typeface="Poppins"/>
              </a:defRPr>
            </a:pPr>
            <a:r>
              <a:t>Zero public dataset exists—it must be earned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54680"/>
            <a:ext cx="2377440" cy="224028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2900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01 · 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9476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6–10 Products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Ambient devices across daily life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069080"/>
            <a:ext cx="347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800" b="1">
                <a:solidFill>
                  <a:srgbClr val="58725C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3154680"/>
            <a:ext cx="2377440" cy="224028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0752" y="342900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02 · SPARK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0752" y="379476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Spontaneous 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30752" y="42976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Users talk for joy, not chores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5312" y="4069080"/>
            <a:ext cx="347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800" b="1">
                <a:solidFill>
                  <a:srgbClr val="58725C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3154680"/>
            <a:ext cx="2377440" cy="2240280"/>
          </a:xfrm>
          <a:prstGeom prst="roundRect">
            <a:avLst>
              <a:gd name="adj" fmla="val 5000"/>
            </a:avLst>
          </a:prstGeom>
          <a:solidFill>
            <a:srgbClr val="FBFAF7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42900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03 · COLLECT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79476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Exclusive Joy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Un-scrapable emotional signals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0224" y="4069080"/>
            <a:ext cx="347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800" b="1">
                <a:solidFill>
                  <a:srgbClr val="58725C"/>
                </a:solidFill>
                <a:latin typeface="Poppin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154680"/>
            <a:ext cx="2377440" cy="2240280"/>
          </a:xfrm>
          <a:prstGeom prst="roundRect">
            <a:avLst>
              <a:gd name="adj" fmla="val 5000"/>
            </a:avLst>
          </a:prstGeom>
          <a:solidFill>
            <a:srgbClr val="E1E8E0"/>
          </a:solidFill>
          <a:ln w="12700">
            <a:solidFill>
              <a:srgbClr val="A8A4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0576" y="342900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04 · EVOLVE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3794760"/>
            <a:ext cx="2011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Smarter “Fun AI”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576" y="42976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0">
                <a:solidFill>
                  <a:srgbClr val="60656C"/>
                </a:solidFill>
                <a:latin typeface="Poppins"/>
              </a:defRPr>
            </a:pPr>
            <a:r>
              <a:t>Compounds retention across all SKUs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20" y="5596128"/>
            <a:ext cx="8897112" cy="411480"/>
          </a:xfrm>
          <a:prstGeom prst="roundRect">
            <a:avLst>
              <a:gd name="adj" fmla="val 8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687568"/>
            <a:ext cx="8531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1050" b="1">
                <a:solidFill>
                  <a:srgbClr val="60656C"/>
                </a:solidFill>
                <a:latin typeface="Poppins"/>
              </a:defRPr>
            </a:pPr>
            <a:r>
              <a:t>↺   Continuous Compounding Loop Across Every Brand &amp; Hardware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06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07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Delightfully “Useless.” Commercially Unstoppable.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91640"/>
            <a:ext cx="3337560" cy="283464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93392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CATEGORY OF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31720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23262A"/>
                </a:solidFill>
                <a:latin typeface="Poppins"/>
              </a:defRPr>
            </a:pPr>
            <a:r>
              <a:t>Fun AI &gt; Functional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97180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60656C"/>
                </a:solidFill>
                <a:latin typeface="Poppins"/>
              </a:defRPr>
            </a:pPr>
            <a:r>
              <a:t>Owning daily consumer joy &amp; voice while the rest of tech fights over spreadsheets.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691640"/>
            <a:ext cx="3337560" cy="2834640"/>
          </a:xfrm>
          <a:prstGeom prst="roundRect">
            <a:avLst>
              <a:gd name="adj" fmla="val 4000"/>
            </a:avLst>
          </a:prstGeom>
          <a:solidFill>
            <a:srgbClr val="CAFB5B"/>
          </a:solidFill>
          <a:ln w="1587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1993392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ASYMMETRIC HARDWARE 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331720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23262A"/>
                </a:solidFill>
                <a:latin typeface="Poppins"/>
              </a:defRPr>
            </a:pPr>
            <a:r>
              <a:t>&lt; 9 Mos  ·  $150K–$200K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97180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60656C"/>
                </a:solidFill>
                <a:latin typeface="Poppins"/>
              </a:defRPr>
            </a:pPr>
            <a:r>
              <a:t>1 shared AI + SaaS backend powers 6–10 US hardware launches per year.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691640"/>
            <a:ext cx="3337560" cy="283464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5875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993392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60656C"/>
                </a:solidFill>
                <a:latin typeface="Poppins"/>
              </a:defRPr>
            </a:pPr>
            <a:r>
              <a:t>COMPOUNDING DATA MOAT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331720"/>
            <a:ext cx="2788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800" b="1">
                <a:solidFill>
                  <a:srgbClr val="23262A"/>
                </a:solidFill>
                <a:latin typeface="Poppins"/>
              </a:defRPr>
            </a:pPr>
            <a:r>
              <a:t>2 Launching · 3 Prototyping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97180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150" b="0">
                <a:solidFill>
                  <a:srgbClr val="60656C"/>
                </a:solidFill>
                <a:latin typeface="Poppins"/>
              </a:defRPr>
            </a:pPr>
            <a:r>
              <a:t>2,000 US units shipping Dec 2026; building the only dataset of human play.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00600"/>
            <a:ext cx="10543032" cy="1280160"/>
          </a:xfrm>
          <a:prstGeom prst="roundRect">
            <a:avLst>
              <a:gd name="adj" fmla="val 4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5102352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21" name="Oval 20"/>
          <p:cNvSpPr/>
          <p:nvPr/>
        </p:nvSpPr>
        <p:spPr>
          <a:xfrm>
            <a:off x="1847088" y="5202936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46811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Make Humans Talk Again.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5468112"/>
            <a:ext cx="5074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  <a:defRPr sz="1150" b="0">
                <a:solidFill>
                  <a:srgbClr val="60656C"/>
                </a:solidFill>
                <a:latin typeface="Poppins"/>
              </a:defRPr>
            </a:pPr>
            <a:r>
              <a:t>Appendix Follows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A1 · WAVE 1 PRODUCT GALLERY (DEC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A1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Shipping Dec 2026: 1,000 US Units Each (On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5120640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4754880" cy="3054096"/>
          </a:xfrm>
          <a:prstGeom prst="roundRect">
            <a:avLst>
              <a:gd name="adj" fmla="val 3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1_photoframe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755648"/>
            <a:ext cx="4718304" cy="3017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24128" y="4919472"/>
            <a:ext cx="1600200" cy="256032"/>
          </a:xfrm>
          <a:prstGeom prst="roundRect">
            <a:avLst>
              <a:gd name="adj" fmla="val 15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956048"/>
            <a:ext cx="1490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23262A"/>
                </a:solidFill>
                <a:latin typeface="Poppins"/>
              </a:defRPr>
            </a:pPr>
            <a:r>
              <a:t>DEC 2026 · 1K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90118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Magical Living Photo Frame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303520"/>
            <a:ext cx="4718304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• Harry Potter-style living portraits that wave hello as you walk by.</a:t>
            </a:r>
          </a:p>
          <a:p>
            <a:pPr algn="l">
              <a:lnSpc>
                <a:spcPct val="135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• Syncs with live local weather (pulls out an umbrella when it rains outside).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72768"/>
            <a:ext cx="5120640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737360"/>
            <a:ext cx="4754880" cy="3054096"/>
          </a:xfrm>
          <a:prstGeom prst="roundRect">
            <a:avLst>
              <a:gd name="adj" fmla="val 3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1_bible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55648"/>
            <a:ext cx="4718304" cy="30175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446520" y="4919472"/>
            <a:ext cx="1600200" cy="256032"/>
          </a:xfrm>
          <a:prstGeom prst="roundRect">
            <a:avLst>
              <a:gd name="adj" fmla="val 15000"/>
            </a:avLst>
          </a:prstGeom>
          <a:solidFill>
            <a:srgbClr val="E1E8E0"/>
          </a:solidFill>
          <a:ln w="12700">
            <a:solidFill>
              <a:srgbClr val="587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956048"/>
            <a:ext cx="14904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23262A"/>
                </a:solidFill>
                <a:latin typeface="Poppins"/>
              </a:defRPr>
            </a:pPr>
            <a:r>
              <a:t>DEC 2026 · 1K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490118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Pocket Interactive Bible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303520"/>
            <a:ext cx="471830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• Standalone E-Ink + 4G cellular device for focused, distraction-free faith.</a:t>
            </a:r>
          </a:p>
          <a:p>
            <a:pPr algn="l">
              <a:lnSpc>
                <a:spcPct val="135000"/>
              </a:lnSpc>
              <a:defRPr sz="1000" b="0">
                <a:solidFill>
                  <a:srgbClr val="60656C"/>
                </a:solidFill>
                <a:latin typeface="Poppins"/>
              </a:defRPr>
            </a:pPr>
            <a:r>
              <a:t>• Warm Christian companion that deepens Scripture understanding via daily talk.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A2 · WAVE 2 PRODUCT GALLERY (H1 2027)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A2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064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Prototyping for H1 2027: Morning Rituals &amp; Voice Gaming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5120640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4754880" cy="3054096"/>
          </a:xfrm>
          <a:prstGeom prst="roundRect">
            <a:avLst>
              <a:gd name="adj" fmla="val 3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2_dreamprinter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755648"/>
            <a:ext cx="4718304" cy="3017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24128" y="4919472"/>
            <a:ext cx="1691640" cy="256032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 w="12700">
            <a:solidFill>
              <a:srgbClr val="4E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95604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49011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Dream Printer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303520"/>
            <a:ext cx="47183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• Press a button upon waking to speak your dream; generates dream art + transcript.</a:t>
            </a:r>
          </a:p>
          <a:p>
            <a:pPr algn="l">
              <a:lnSpc>
                <a:spcPct val="135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• Builds a connected dream diary linking recurring themes across prior nights.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72768"/>
            <a:ext cx="5120640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2" y="1737360"/>
            <a:ext cx="4754880" cy="3054096"/>
          </a:xfrm>
          <a:prstGeom prst="roundRect">
            <a:avLst>
              <a:gd name="adj" fmla="val 3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2_mayday_coll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755648"/>
            <a:ext cx="4718304" cy="30175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446520" y="4919472"/>
            <a:ext cx="1691640" cy="256032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 w="12700">
            <a:solidFill>
              <a:srgbClr val="4E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4956048"/>
            <a:ext cx="15819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49011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500" b="1">
                <a:solidFill>
                  <a:srgbClr val="23262A"/>
                </a:solidFill>
                <a:latin typeface="Poppins"/>
              </a:defRPr>
            </a:pPr>
            <a:r>
              <a:t>Voice Gaming Walkie-Talkie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303520"/>
            <a:ext cx="4718304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• A character stranded on an alien planet or escape room calls for your help.</a:t>
            </a:r>
          </a:p>
          <a:p>
            <a:pPr algn="l">
              <a:lnSpc>
                <a:spcPct val="135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• Calm them down, guide exploration, and solve live incidents by voice.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50" b="1">
                <a:solidFill>
                  <a:srgbClr val="58725C"/>
                </a:solidFill>
                <a:latin typeface="Poppins"/>
              </a:defRPr>
            </a:pPr>
            <a:r>
              <a:t>APPENDIX A3 · WAVE 2 PRODUCT GALLERY (H1 2027)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45720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1400" b="1">
                <a:solidFill>
                  <a:srgbClr val="23262A"/>
                </a:solidFill>
                <a:latin typeface="Poppins"/>
              </a:defRPr>
            </a:pPr>
            <a:r>
              <a:t>Banrai</a:t>
            </a:r>
          </a:p>
        </p:txBody>
      </p:sp>
      <p:sp>
        <p:nvSpPr>
          <p:cNvPr id="4" name="Oval 3"/>
          <p:cNvSpPr/>
          <p:nvPr/>
        </p:nvSpPr>
        <p:spPr>
          <a:xfrm>
            <a:off x="11247120" y="557784"/>
            <a:ext cx="82296" cy="82296"/>
          </a:xfrm>
          <a:prstGeom prst="ellipse">
            <a:avLst/>
          </a:prstGeom>
          <a:solidFill>
            <a:srgbClr val="CAFB5B"/>
          </a:solidFill>
          <a:ln w="9525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0" y="6309360"/>
            <a:ext cx="1051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defRPr sz="900" b="0">
                <a:solidFill>
                  <a:srgbClr val="8E9298"/>
                </a:solidFill>
                <a:latin typeface="Poppins"/>
              </a:defRPr>
            </a:pPr>
            <a:r>
              <a:t>A3 /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61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defRPr sz="2800" b="1">
                <a:solidFill>
                  <a:srgbClr val="23262A"/>
                </a:solidFill>
                <a:latin typeface="Poppins"/>
              </a:defRPr>
            </a:pPr>
            <a:r>
              <a:t>Prototyping for H1 2027: E-Ink Children’s Story Doodle Pad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4069080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847088"/>
            <a:ext cx="1783080" cy="274320"/>
          </a:xfrm>
          <a:prstGeom prst="roundRect">
            <a:avLst>
              <a:gd name="adj" fmla="val 15000"/>
            </a:avLst>
          </a:prstGeom>
          <a:solidFill>
            <a:srgbClr val="CAFB5B"/>
          </a:solidFill>
          <a:ln w="12700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" y="1892807"/>
            <a:ext cx="1673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defRPr sz="850" b="1">
                <a:solidFill>
                  <a:srgbClr val="23262A"/>
                </a:solidFill>
                <a:latin typeface="Poppins"/>
              </a:defRPr>
            </a:pPr>
            <a:r>
              <a:t>H1 2027 ·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3520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defRPr sz="2000" b="1">
                <a:solidFill>
                  <a:srgbClr val="23262A"/>
                </a:solidFill>
                <a:latin typeface="Poppins"/>
              </a:defRPr>
            </a:pPr>
            <a:r>
              <a:t>Eye-Friendly E-Ink</a:t>
            </a:r>
          </a:p>
          <a:p>
            <a:pPr algn="l">
              <a:lnSpc>
                <a:spcPct val="118000"/>
              </a:lnSpc>
              <a:defRPr sz="2000" b="1">
                <a:solidFill>
                  <a:srgbClr val="23262A"/>
                </a:solidFill>
                <a:latin typeface="Poppins"/>
              </a:defRPr>
            </a:pPr>
            <a:r>
              <a:t>Children’s Doodle 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99232"/>
            <a:ext cx="3520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100" b="0">
                <a:solidFill>
                  <a:srgbClr val="60656C"/>
                </a:solidFill>
                <a:latin typeface="Poppins"/>
              </a:defRPr>
            </a:pPr>
            <a:r>
              <a:t>How kids should experience AI—long before they even know what AI 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657600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3749039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Doodle → Comic 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3977639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Extends any child’s sketch into a back-and-forth comic adventure.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407408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49884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Visual Q&amp;A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4727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Answers handwritten or doodled questions in a child-friendly way.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5157216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1872" y="5248655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1050" b="1">
                <a:solidFill>
                  <a:srgbClr val="23262A"/>
                </a:solidFill>
                <a:latin typeface="Poppins"/>
              </a:defRPr>
            </a:pPr>
            <a:r>
              <a:t>Calm E-Ink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477255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defRPr sz="900" b="0">
                <a:solidFill>
                  <a:srgbClr val="60656C"/>
                </a:solidFill>
                <a:latin typeface="Poppins"/>
              </a:defRPr>
            </a:pPr>
            <a:r>
              <a:t>Zero blue light or addictive feeds—pure creative agency.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1572768"/>
            <a:ext cx="6245352" cy="4572000"/>
          </a:xfrm>
          <a:prstGeom prst="roundRect">
            <a:avLst>
              <a:gd name="adj" fmla="val 3000"/>
            </a:avLst>
          </a:prstGeom>
          <a:solidFill>
            <a:srgbClr val="FBFAF7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30952" y="1764792"/>
            <a:ext cx="5824728" cy="4187952"/>
          </a:xfrm>
          <a:prstGeom prst="roundRect">
            <a:avLst>
              <a:gd name="adj" fmla="val 3000"/>
            </a:avLst>
          </a:prstGeom>
          <a:solidFill>
            <a:srgbClr val="ECE9E1"/>
          </a:solidFill>
          <a:ln w="12700">
            <a:solidFill>
              <a:srgbClr val="D8D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3_doodleboard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783080"/>
            <a:ext cx="5788152" cy="41513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