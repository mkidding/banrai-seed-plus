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94360"/>
            <a:ext cx="10820095" cy="566928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97680" y="1645920"/>
            <a:ext cx="3017520" cy="8686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56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7424928" y="2057400"/>
            <a:ext cx="182880" cy="182880"/>
          </a:xfrm>
          <a:prstGeom prst="ellipse">
            <a:avLst/>
          </a:prstGeom>
          <a:solidFill>
            <a:srgbClr val="CAFB5B"/>
          </a:solidFill>
          <a:ln w="1270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834640"/>
            <a:ext cx="9997135" cy="5303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2600" b="1">
                <a:solidFill>
                  <a:srgbClr val="23262A"/>
                </a:solidFill>
                <a:latin typeface="Poppins"/>
              </a:defRPr>
            </a:pPr>
            <a:r>
              <a:t>Consumer AI Hardware Built for Joy, Not Chores.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438144"/>
            <a:ext cx="8534095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300" b="0">
                <a:solidFill>
                  <a:srgbClr val="60656C"/>
                </a:solidFill>
                <a:latin typeface="Poppins"/>
              </a:defRPr>
            </a:pPr>
            <a:r>
              <a:t>Make Humans Talk Again   ·   Seed+ Investor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8760" y="4480560"/>
            <a:ext cx="2880360" cy="105156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8488" y="4700016"/>
            <a:ext cx="2660904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250" b="1">
                <a:solidFill>
                  <a:srgbClr val="23262A"/>
                </a:solidFill>
                <a:latin typeface="Poppins"/>
              </a:defRPr>
            </a:pPr>
            <a:r>
              <a:t>100% Hard-Subscription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5047488"/>
            <a:ext cx="266090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SaaS recurring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4480560"/>
            <a:ext cx="2880360" cy="1051560"/>
          </a:xfrm>
          <a:prstGeom prst="roundRect">
            <a:avLst>
              <a:gd name="adj" fmla="val 8000"/>
            </a:avLst>
          </a:prstGeom>
          <a:solidFill>
            <a:srgbClr val="CAFB5B"/>
          </a:solidFill>
          <a:ln w="1270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4700016"/>
            <a:ext cx="2660904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250" b="1">
                <a:solidFill>
                  <a:srgbClr val="23262A"/>
                </a:solidFill>
                <a:latin typeface="Poppins"/>
              </a:defRPr>
            </a:pPr>
            <a:r>
              <a:t>&lt; 9 Mos  ·  $150K–$200K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5047488"/>
            <a:ext cx="266090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Concept to 1,000 US units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2880360" cy="105156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7848" y="4700016"/>
            <a:ext cx="2660904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250" b="1">
                <a:solidFill>
                  <a:srgbClr val="23262A"/>
                </a:solidFill>
                <a:latin typeface="Poppins"/>
              </a:defRPr>
            </a:pPr>
            <a:r>
              <a:t>6–10 Products / 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7848" y="5047488"/>
            <a:ext cx="266090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Powered by 1 shared backend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68580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01 · CATEGORY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38912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56264" y="539496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6355080"/>
            <a:ext cx="112471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02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68096"/>
            <a:ext cx="10543032" cy="47548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2300" b="1">
                <a:solidFill>
                  <a:srgbClr val="23262A"/>
                </a:solidFill>
                <a:latin typeface="Poppins"/>
              </a:defRPr>
            </a:pPr>
            <a:r>
              <a:t>Everyone Builds Functional AI. We Build Fun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6217920" cy="466344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45920"/>
            <a:ext cx="32004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8E9298"/>
                </a:solidFill>
                <a:latin typeface="Poppins"/>
              </a:defRPr>
            </a:pPr>
            <a:r>
              <a:t>CONSUMER AI 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938528"/>
            <a:ext cx="219456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60656C"/>
                </a:solidFill>
                <a:latin typeface="Poppins"/>
              </a:defRPr>
            </a:pPr>
            <a:r>
              <a:t>TACTILE 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5724144"/>
            <a:ext cx="219456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8E9298"/>
                </a:solidFill>
                <a:latin typeface="Poppins"/>
              </a:defRPr>
            </a:pPr>
            <a:r>
              <a:t>SCREEN CHATBOTS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34440" y="3931920"/>
            <a:ext cx="5394960" cy="18288"/>
          </a:xfrm>
          <a:prstGeom prst="rect">
            <a:avLst/>
          </a:prstGeom>
          <a:solidFill>
            <a:srgbClr val="A8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31920" y="2231136"/>
            <a:ext cx="18288" cy="3419856"/>
          </a:xfrm>
          <a:prstGeom prst="rect">
            <a:avLst/>
          </a:prstGeom>
          <a:solidFill>
            <a:srgbClr val="A8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675887"/>
            <a:ext cx="173736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850" b="1">
                <a:solidFill>
                  <a:srgbClr val="8E9298"/>
                </a:solidFill>
                <a:latin typeface="Poppins"/>
              </a:defRPr>
            </a:pPr>
            <a:r>
              <a:t>WORK &amp;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675887"/>
            <a:ext cx="173736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PLAY &amp; DAILY JOY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2359152"/>
            <a:ext cx="2377440" cy="1207008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2578608"/>
            <a:ext cx="21579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00" b="1">
                <a:solidFill>
                  <a:srgbClr val="60656C"/>
                </a:solidFill>
                <a:latin typeface="Poppins"/>
              </a:defRPr>
            </a:pPr>
            <a:r>
              <a:t>Utility Wearables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2907792"/>
            <a:ext cx="21579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Phone replacement pins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2359152"/>
            <a:ext cx="2468880" cy="1207008"/>
          </a:xfrm>
          <a:prstGeom prst="roundRect">
            <a:avLst>
              <a:gd name="adj" fmla="val 8000"/>
            </a:avLst>
          </a:prstGeom>
          <a:solidFill>
            <a:srgbClr val="CAFB5B"/>
          </a:solidFill>
          <a:ln w="1905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0248" y="2523744"/>
            <a:ext cx="2249424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250" b="1">
                <a:solidFill>
                  <a:srgbClr val="23262A"/>
                </a:solidFill>
                <a:latin typeface="Poppins"/>
              </a:defRPr>
            </a:pPr>
            <a:r>
              <a:t>Banrai · “Fun AI”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8" y="2852928"/>
            <a:ext cx="22494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23262A"/>
                </a:solidFill>
                <a:latin typeface="Poppins"/>
              </a:defRPr>
            </a:pPr>
            <a:r>
              <a:t>Delightfully “useless” hardware</a:t>
            </a:r>
          </a:p>
          <a:p>
            <a:pPr algn="ctr">
              <a:lnSpc>
                <a:spcPct val="120000"/>
              </a:lnSpc>
              <a:defRPr sz="950" b="0">
                <a:solidFill>
                  <a:srgbClr val="23262A"/>
                </a:solidFill>
                <a:latin typeface="Poppins"/>
              </a:defRPr>
            </a:pPr>
            <a:r>
              <a:t>for daily joy &amp; conversation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279392"/>
            <a:ext cx="2377440" cy="1207008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9888" y="4443984"/>
            <a:ext cx="21579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00" b="1">
                <a:solidFill>
                  <a:srgbClr val="60656C"/>
                </a:solidFill>
                <a:latin typeface="Poppins"/>
              </a:defRPr>
            </a:pPr>
            <a:r>
              <a:t>Functional AI Crowd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4754880"/>
            <a:ext cx="215798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Emails, coding, productivity</a:t>
            </a:r>
          </a:p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(99% of VC &amp; Big Tech)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4279392"/>
            <a:ext cx="2468880" cy="1207008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70248" y="4498848"/>
            <a:ext cx="224942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00" b="1">
                <a:solidFill>
                  <a:srgbClr val="60656C"/>
                </a:solidFill>
                <a:latin typeface="Poppins"/>
              </a:defRPr>
            </a:pPr>
            <a:r>
              <a:t>Screen Companions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0248" y="4809744"/>
            <a:ext cx="224942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Phone-bound chat apps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1463040"/>
            <a:ext cx="4050791" cy="1463040"/>
          </a:xfrm>
          <a:prstGeom prst="roundRect">
            <a:avLst>
              <a:gd name="adj" fmla="val 5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71231" y="1645920"/>
            <a:ext cx="3547872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01 · COUNTER-TREND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1231" y="1901952"/>
            <a:ext cx="3547872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Delightfully “Useless”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71231" y="2267712"/>
            <a:ext cx="35478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Zero task optimization. Built purely for curiosity, laughter, and warmth.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0" y="3063240"/>
            <a:ext cx="4050791" cy="1463040"/>
          </a:xfrm>
          <a:prstGeom prst="roundRect">
            <a:avLst>
              <a:gd name="adj" fmla="val 5000"/>
            </a:avLst>
          </a:prstGeom>
          <a:solidFill>
            <a:srgbClr val="E1E8E0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3246120"/>
            <a:ext cx="3547872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02 · UNIFYING THEME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3502152"/>
            <a:ext cx="3547872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“Make Humans Talk Again”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3867912"/>
            <a:ext cx="35478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Replaces passive screen scrolling with active voice, stories, and imagination.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0" y="4663440"/>
            <a:ext cx="4050791" cy="1463040"/>
          </a:xfrm>
          <a:prstGeom prst="roundRect">
            <a:avLst>
              <a:gd name="adj" fmla="val 5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71231" y="4846320"/>
            <a:ext cx="3547872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03 · MULTI-BRAND STRATEGY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71231" y="5102352"/>
            <a:ext cx="3547872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Ambient in Every Room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71231" y="5468112"/>
            <a:ext cx="35478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Different brands &amp; form factors—from bedside clocks to living room frames.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68580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02 ·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38912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56264" y="539496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6355080"/>
            <a:ext cx="112471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03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68096"/>
            <a:ext cx="10543032" cy="47548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2300" b="1">
                <a:solidFill>
                  <a:srgbClr val="23262A"/>
                </a:solidFill>
                <a:latin typeface="Poppins"/>
              </a:defRPr>
            </a:pPr>
            <a:r>
              <a:t>Hardware Is the Vessel. SaaS Is the Engine.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08760"/>
            <a:ext cx="10543032" cy="1874519"/>
          </a:xfrm>
          <a:prstGeom prst="roundRect">
            <a:avLst>
              <a:gd name="adj" fmla="val 4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737360"/>
            <a:ext cx="29718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8E9298"/>
                </a:solidFill>
                <a:latin typeface="Poppins"/>
              </a:defRPr>
            </a:pPr>
            <a:r>
              <a:t>TRADITIONAL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011680"/>
            <a:ext cx="29718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550" b="1">
                <a:solidFill>
                  <a:srgbClr val="60656C"/>
                </a:solidFill>
                <a:latin typeface="Poppins"/>
              </a:defRPr>
            </a:pPr>
            <a:r>
              <a:t>One-Time Unit Margin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14016"/>
            <a:ext cx="2971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0">
                <a:solidFill>
                  <a:srgbClr val="8E9298"/>
                </a:solidFill>
                <a:latin typeface="Poppins"/>
              </a:defRPr>
            </a:pPr>
            <a:r>
              <a:t>Profit stops at checkout.</a:t>
            </a:r>
          </a:p>
          <a:p>
            <a:pPr algn="l">
              <a:lnSpc>
                <a:spcPct val="120000"/>
              </a:lnSpc>
              <a:defRPr sz="1000" b="0">
                <a:solidFill>
                  <a:srgbClr val="8E9298"/>
                </a:solidFill>
                <a:latin typeface="Poppins"/>
              </a:defRPr>
            </a:pPr>
            <a:r>
              <a:t>Forced to push Gen-2 upgrades.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47088"/>
            <a:ext cx="2066543" cy="1188720"/>
          </a:xfrm>
          <a:prstGeom prst="roundRect">
            <a:avLst>
              <a:gd name="adj" fmla="val 6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121408"/>
            <a:ext cx="188366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00" b="1">
                <a:solidFill>
                  <a:srgbClr val="60656C"/>
                </a:solidFill>
                <a:latin typeface="Poppins"/>
              </a:defRPr>
            </a:pPr>
            <a:r>
              <a:t>Day 1: Sell Box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468880"/>
            <a:ext cx="188366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One-off unit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4224" y="2432304"/>
            <a:ext cx="237744" cy="22860"/>
          </a:xfrm>
          <a:prstGeom prst="rect">
            <a:avLst/>
          </a:prstGeom>
          <a:solidFill>
            <a:srgbClr val="A8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1948" y="2403043"/>
            <a:ext cx="82296" cy="82296"/>
          </a:xfrm>
          <a:prstGeom prst="ellipse">
            <a:avLst/>
          </a:prstGeom>
          <a:solidFill>
            <a:srgbClr val="A8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01968" y="1847088"/>
            <a:ext cx="2066543" cy="1188720"/>
          </a:xfrm>
          <a:prstGeom prst="roundRect">
            <a:avLst>
              <a:gd name="adj" fmla="val 6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8" y="2121408"/>
            <a:ext cx="188366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00" b="1">
                <a:solidFill>
                  <a:srgbClr val="60656C"/>
                </a:solidFill>
                <a:latin typeface="Poppins"/>
              </a:defRPr>
            </a:pPr>
            <a:r>
              <a:t>Month 2–12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2468880"/>
            <a:ext cx="188366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$0 recurring revenue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68512" y="2432304"/>
            <a:ext cx="237744" cy="22860"/>
          </a:xfrm>
          <a:prstGeom prst="rect">
            <a:avLst/>
          </a:prstGeom>
          <a:solidFill>
            <a:srgbClr val="A8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46236" y="2403043"/>
            <a:ext cx="82296" cy="82296"/>
          </a:xfrm>
          <a:prstGeom prst="ellipse">
            <a:avLst/>
          </a:prstGeom>
          <a:solidFill>
            <a:srgbClr val="A8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06256" y="1847088"/>
            <a:ext cx="2066543" cy="1188720"/>
          </a:xfrm>
          <a:prstGeom prst="roundRect">
            <a:avLst>
              <a:gd name="adj" fmla="val 6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7696" y="2121408"/>
            <a:ext cx="188366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00" b="1">
                <a:solidFill>
                  <a:srgbClr val="60656C"/>
                </a:solidFill>
                <a:latin typeface="Poppins"/>
              </a:defRPr>
            </a:pPr>
            <a:r>
              <a:t>Year 2+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468880"/>
            <a:ext cx="188366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Push Gen-2 upgrade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611880"/>
            <a:ext cx="10543032" cy="251460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9050">
            <a:solidFill>
              <a:srgbClr val="587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886200"/>
            <a:ext cx="29718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THE BANRAI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160520"/>
            <a:ext cx="2971800" cy="3474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550" b="1">
                <a:solidFill>
                  <a:srgbClr val="23262A"/>
                </a:solidFill>
                <a:latin typeface="Poppins"/>
              </a:defRPr>
            </a:pPr>
            <a:r>
              <a:t>100% Hard-Subscription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590288"/>
            <a:ext cx="2971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Real AI costs tokens—so there is no free tier. Hardware unlocks SaaS-style recurring revenue.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886200"/>
            <a:ext cx="2066543" cy="1965960"/>
          </a:xfrm>
          <a:prstGeom prst="roundRect">
            <a:avLst>
              <a:gd name="adj" fmla="val 6000"/>
            </a:avLst>
          </a:prstGeom>
          <a:solidFill>
            <a:srgbClr val="E1E8E0"/>
          </a:solidFill>
          <a:ln w="15875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4096512"/>
            <a:ext cx="188366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60656C"/>
                </a:solidFill>
                <a:latin typeface="Poppins"/>
              </a:defRPr>
            </a:pPr>
            <a:r>
              <a:t>01 · UNBOX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389120"/>
            <a:ext cx="1883664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00" b="1">
                <a:solidFill>
                  <a:srgbClr val="23262A"/>
                </a:solidFill>
                <a:latin typeface="Poppins"/>
              </a:defRPr>
            </a:pPr>
            <a:r>
              <a:t>Hardware + Free Trial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791456"/>
            <a:ext cx="188366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Bundled free trial months</a:t>
            </a:r>
          </a:p>
          <a:p>
            <a:pPr algn="ctr">
              <a:lnSpc>
                <a:spcPct val="120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for instant unboxing magic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64224" y="4855464"/>
            <a:ext cx="237744" cy="22860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41948" y="4826203"/>
            <a:ext cx="82296" cy="82296"/>
          </a:xfrm>
          <a:prstGeom prst="ellipse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601968" y="3886200"/>
            <a:ext cx="2066543" cy="1965960"/>
          </a:xfrm>
          <a:prstGeom prst="roundRect">
            <a:avLst>
              <a:gd name="adj" fmla="val 6000"/>
            </a:avLst>
          </a:prstGeom>
          <a:solidFill>
            <a:srgbClr val="CAFB5B"/>
          </a:solidFill>
          <a:ln w="1587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93408" y="4096512"/>
            <a:ext cx="188366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60656C"/>
                </a:solidFill>
                <a:latin typeface="Poppins"/>
              </a:defRPr>
            </a:pPr>
            <a:r>
              <a:t>02 · SUBSCRIBE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3408" y="4389120"/>
            <a:ext cx="1883664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00" b="1">
                <a:solidFill>
                  <a:srgbClr val="23262A"/>
                </a:solidFill>
                <a:latin typeface="Poppins"/>
              </a:defRPr>
            </a:pPr>
            <a:r>
              <a:t>Monthly Subscription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3408" y="4791456"/>
            <a:ext cx="188366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Mandatory monthly fee</a:t>
            </a:r>
          </a:p>
          <a:p>
            <a:pPr algn="ctr">
              <a:lnSpc>
                <a:spcPct val="120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keeps companion alive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68512" y="4855464"/>
            <a:ext cx="237744" cy="22860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746236" y="4826203"/>
            <a:ext cx="82296" cy="82296"/>
          </a:xfrm>
          <a:prstGeom prst="ellipse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906256" y="3886200"/>
            <a:ext cx="2066543" cy="1965960"/>
          </a:xfrm>
          <a:prstGeom prst="roundRect">
            <a:avLst>
              <a:gd name="adj" fmla="val 6000"/>
            </a:avLst>
          </a:prstGeom>
          <a:solidFill>
            <a:srgbClr val="E1E8E0"/>
          </a:solidFill>
          <a:ln w="15875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97696" y="4096512"/>
            <a:ext cx="188366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60656C"/>
                </a:solidFill>
                <a:latin typeface="Poppins"/>
              </a:defRPr>
            </a:pPr>
            <a:r>
              <a:t>03 · COMPOUND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7696" y="4389120"/>
            <a:ext cx="1883664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00" b="1">
                <a:solidFill>
                  <a:srgbClr val="23262A"/>
                </a:solidFill>
                <a:latin typeface="Poppins"/>
              </a:defRPr>
            </a:pPr>
            <a:r>
              <a:t>Continuous SaaS LTV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97696" y="4791456"/>
            <a:ext cx="188366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Cloud evolves stories</a:t>
            </a:r>
          </a:p>
          <a:p>
            <a:pPr algn="ctr">
              <a:lnSpc>
                <a:spcPct val="120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for long-term retention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68580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03 · UNFAIR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38912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56264" y="539496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6355080"/>
            <a:ext cx="112471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04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68096"/>
            <a:ext cx="10543032" cy="47548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2300" b="1">
                <a:solidFill>
                  <a:srgbClr val="23262A"/>
                </a:solidFill>
                <a:latin typeface="Poppins"/>
              </a:defRPr>
            </a:pPr>
            <a:r>
              <a:t>One Shared Backend Powers Dozens of Hardware Products.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6172200" cy="466344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64208"/>
            <a:ext cx="530352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REUSABLE PLATFORM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267712"/>
            <a:ext cx="2194560" cy="3337560"/>
          </a:xfrm>
          <a:prstGeom prst="roundRect">
            <a:avLst>
              <a:gd name="adj" fmla="val 5000"/>
            </a:avLst>
          </a:prstGeom>
          <a:solidFill>
            <a:srgbClr val="E1E8E0"/>
          </a:solidFill>
          <a:ln w="19050">
            <a:solidFill>
              <a:srgbClr val="587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487168"/>
            <a:ext cx="1975104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SHARED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79776"/>
            <a:ext cx="197510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350" b="1">
                <a:solidFill>
                  <a:srgbClr val="23262A"/>
                </a:solidFill>
                <a:latin typeface="Poppins"/>
              </a:defRPr>
            </a:pPr>
            <a:r>
              <a:t>1 Unified AI +</a:t>
            </a:r>
          </a:p>
          <a:p>
            <a:pPr algn="ctr">
              <a:lnSpc>
                <a:spcPct val="120000"/>
              </a:lnSpc>
              <a:defRPr sz="1350" b="1">
                <a:solidFill>
                  <a:srgbClr val="23262A"/>
                </a:solidFill>
                <a:latin typeface="Poppins"/>
              </a:defRPr>
            </a:pPr>
            <a:r>
              <a:t>Billing 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25296" y="3584448"/>
            <a:ext cx="1938528" cy="420624"/>
          </a:xfrm>
          <a:prstGeom prst="roundRect">
            <a:avLst>
              <a:gd name="adj" fmla="val 8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3685032"/>
            <a:ext cx="1865376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60656C"/>
                </a:solidFill>
                <a:latin typeface="Poppins"/>
              </a:defRPr>
            </a:pPr>
            <a:r>
              <a:t>Conversational Voice 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25296" y="4151376"/>
            <a:ext cx="1938528" cy="420624"/>
          </a:xfrm>
          <a:prstGeom prst="roundRect">
            <a:avLst>
              <a:gd name="adj" fmla="val 8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1872" y="4251960"/>
            <a:ext cx="1865376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60656C"/>
                </a:solidFill>
                <a:latin typeface="Poppins"/>
              </a:defRPr>
            </a:pPr>
            <a:r>
              <a:t>Image &amp; Story Engine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25296" y="4718304"/>
            <a:ext cx="1938528" cy="420624"/>
          </a:xfrm>
          <a:prstGeom prst="roundRect">
            <a:avLst>
              <a:gd name="adj" fmla="val 8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61872" y="4818888"/>
            <a:ext cx="1865376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60656C"/>
                </a:solidFill>
                <a:latin typeface="Poppins"/>
              </a:defRPr>
            </a:pPr>
            <a:r>
              <a:t>Subscription &amp; Metering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350008"/>
            <a:ext cx="502920" cy="22860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02152" y="2320747"/>
            <a:ext cx="82296" cy="82296"/>
          </a:xfrm>
          <a:prstGeom prst="ellipse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94760" y="2121408"/>
            <a:ext cx="2926080" cy="475488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2249424"/>
            <a:ext cx="196596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23262A"/>
                </a:solidFill>
                <a:latin typeface="Poppins"/>
              </a:defRPr>
            </a:pPr>
            <a:r>
              <a:t>01 · Living Photo Frame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258568"/>
            <a:ext cx="658368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Dec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2971800"/>
            <a:ext cx="502920" cy="22860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02152" y="2942539"/>
            <a:ext cx="82296" cy="82296"/>
          </a:xfrm>
          <a:prstGeom prst="ellipse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2743200"/>
            <a:ext cx="2926080" cy="475488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2871216"/>
            <a:ext cx="196596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23262A"/>
                </a:solidFill>
                <a:latin typeface="Poppins"/>
              </a:defRPr>
            </a:pPr>
            <a:r>
              <a:t>02 · Pocket Bible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2880360"/>
            <a:ext cx="658368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Dec 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3593591"/>
            <a:ext cx="502920" cy="22860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02152" y="3564331"/>
            <a:ext cx="82296" cy="82296"/>
          </a:xfrm>
          <a:prstGeom prst="ellipse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94760" y="3364991"/>
            <a:ext cx="2926080" cy="475488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31920" y="3493008"/>
            <a:ext cx="196596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23262A"/>
                </a:solidFill>
                <a:latin typeface="Poppins"/>
              </a:defRPr>
            </a:pPr>
            <a:r>
              <a:t>03 · Dream Printer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502151"/>
            <a:ext cx="658368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4215383"/>
            <a:ext cx="502920" cy="22860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502152" y="4186123"/>
            <a:ext cx="82296" cy="82296"/>
          </a:xfrm>
          <a:prstGeom prst="ellipse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794760" y="3986783"/>
            <a:ext cx="2926080" cy="475488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4114799"/>
            <a:ext cx="196596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23262A"/>
                </a:solidFill>
                <a:latin typeface="Poppins"/>
              </a:defRPr>
            </a:pPr>
            <a:r>
              <a:t>04 · Voice Walkie-Talkie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123944"/>
            <a:ext cx="658368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4837176"/>
            <a:ext cx="502920" cy="22860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02152" y="4807915"/>
            <a:ext cx="82296" cy="82296"/>
          </a:xfrm>
          <a:prstGeom prst="ellipse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794760" y="4608576"/>
            <a:ext cx="2926080" cy="475488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0" y="4736592"/>
            <a:ext cx="196596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23262A"/>
                </a:solidFill>
                <a:latin typeface="Poppins"/>
              </a:defRPr>
            </a:pPr>
            <a:r>
              <a:t>05 · Kids’ Doodle Pad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4745736"/>
            <a:ext cx="658368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91840" y="5458968"/>
            <a:ext cx="502920" cy="22860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502152" y="5429707"/>
            <a:ext cx="82296" cy="82296"/>
          </a:xfrm>
          <a:prstGeom prst="ellipse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794760" y="5230368"/>
            <a:ext cx="2926080" cy="475488"/>
          </a:xfrm>
          <a:prstGeom prst="roundRect">
            <a:avLst>
              <a:gd name="adj" fmla="val 8000"/>
            </a:avLst>
          </a:prstGeom>
          <a:solidFill>
            <a:srgbClr val="E0E7EC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31920" y="5358384"/>
            <a:ext cx="196596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23262A"/>
                </a:solidFill>
                <a:latin typeface="Poppins"/>
              </a:defRPr>
            </a:pPr>
            <a:r>
              <a:t>06–10+ · New SKUs / Yr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5367528"/>
            <a:ext cx="658368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Pipeline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23760" y="1463040"/>
            <a:ext cx="4142232" cy="466344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98079" y="1664208"/>
            <a:ext cx="36576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8E9298"/>
                </a:solidFill>
                <a:latin typeface="Poppins"/>
              </a:defRPr>
            </a:pPr>
            <a:r>
              <a:t>ECONOMICS PER HARDWARE LINE (US)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2066543"/>
            <a:ext cx="3611880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Time to Market (First 1,000 US Units)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79" y="2377440"/>
            <a:ext cx="3566160" cy="329184"/>
          </a:xfrm>
          <a:prstGeom prst="roundRect">
            <a:avLst>
              <a:gd name="adj" fmla="val 10000"/>
            </a:avLst>
          </a:prstGeom>
          <a:solidFill>
            <a:srgbClr val="ECE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26096" y="2432304"/>
            <a:ext cx="329184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Traditional Hardware:  18 – 24+ Months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498079" y="2779776"/>
            <a:ext cx="1874519" cy="347472"/>
          </a:xfrm>
          <a:prstGeom prst="roundRect">
            <a:avLst>
              <a:gd name="adj" fmla="val 10000"/>
            </a:avLst>
          </a:prstGeom>
          <a:solidFill>
            <a:srgbClr val="E1E8E0"/>
          </a:solidFill>
          <a:ln w="12700">
            <a:solidFill>
              <a:srgbClr val="587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26096" y="2843784"/>
            <a:ext cx="164592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23262A"/>
                </a:solidFill>
                <a:latin typeface="Poppins"/>
              </a:defRPr>
            </a:pPr>
            <a:r>
              <a:t>Banrai: &lt; 9 Mos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3364992"/>
            <a:ext cx="3611880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All-In Launch Cost (R&amp;D + First 1,000 Units)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498079" y="3675887"/>
            <a:ext cx="3566160" cy="329184"/>
          </a:xfrm>
          <a:prstGeom prst="roundRect">
            <a:avLst>
              <a:gd name="adj" fmla="val 10000"/>
            </a:avLst>
          </a:prstGeom>
          <a:solidFill>
            <a:srgbClr val="ECE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26096" y="3730752"/>
            <a:ext cx="329184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Traditional Hardware:  $3M – $10M+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98079" y="4078224"/>
            <a:ext cx="2286000" cy="365760"/>
          </a:xfrm>
          <a:prstGeom prst="roundRect">
            <a:avLst>
              <a:gd name="adj" fmla="val 10000"/>
            </a:avLst>
          </a:prstGeom>
          <a:solidFill>
            <a:srgbClr val="CAFB5B"/>
          </a:solidFill>
          <a:ln w="1905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26096" y="4151376"/>
            <a:ext cx="20574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1">
                <a:solidFill>
                  <a:srgbClr val="23262A"/>
                </a:solidFill>
                <a:latin typeface="Poppins"/>
              </a:defRPr>
            </a:pPr>
            <a:r>
              <a:t>Banrai: $150K – $200K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79" y="4700016"/>
            <a:ext cx="3611880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Unit Threshold for a Winner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498079" y="5010912"/>
            <a:ext cx="3566160" cy="841248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44383" y="5138928"/>
            <a:ext cx="3291840" cy="5943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950" b="1">
                <a:solidFill>
                  <a:srgbClr val="23262A"/>
                </a:solidFill>
                <a:latin typeface="Poppins"/>
              </a:defRPr>
            </a:pPr>
            <a:r>
              <a:t>• Single-Product Co: Must sell 10M+ units</a:t>
            </a:r>
          </a:p>
          <a:p>
            <a:pPr algn="l">
              <a:lnSpc>
                <a:spcPct val="135000"/>
              </a:lnSpc>
              <a:defRPr sz="950" b="1">
                <a:solidFill>
                  <a:srgbClr val="23262A"/>
                </a:solidFill>
                <a:latin typeface="Poppins"/>
              </a:defRPr>
            </a:pPr>
            <a:r>
              <a:t>• Banrai Portfolio: Profitable hit at 100K+ units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68580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04 · PRODUCT ROADMAP (US MARKET EXCLUSIVELY)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38912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56264" y="539496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6355080"/>
            <a:ext cx="112471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05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68096"/>
            <a:ext cx="10543032" cy="47548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2300" b="1">
                <a:solidFill>
                  <a:srgbClr val="23262A"/>
                </a:solidFill>
                <a:latin typeface="Poppins"/>
              </a:defRPr>
            </a:pPr>
            <a:r>
              <a:t>5 Products in Motion. 6–10 New Launches Every Year.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4133087" cy="384048"/>
          </a:xfrm>
          <a:prstGeom prst="roundRect">
            <a:avLst>
              <a:gd name="adj" fmla="val 8000"/>
            </a:avLst>
          </a:prstGeom>
          <a:solidFill>
            <a:srgbClr val="CAFB5B"/>
          </a:solidFill>
          <a:ln w="1270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45336"/>
            <a:ext cx="3950208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23262A"/>
                </a:solidFill>
                <a:latin typeface="Poppins"/>
              </a:defRPr>
            </a:pPr>
            <a:r>
              <a:t>WAVE 1 · DEC 2026 (1,000 US UNITS EACH · ON BUDGET)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02352" y="1463040"/>
            <a:ext cx="6263640" cy="384048"/>
          </a:xfrm>
          <a:prstGeom prst="roundRect">
            <a:avLst>
              <a:gd name="adj" fmla="val 8000"/>
            </a:avLst>
          </a:prstGeom>
          <a:solidFill>
            <a:srgbClr val="E1E8E0"/>
          </a:solidFill>
          <a:ln w="12700">
            <a:solidFill>
              <a:srgbClr val="587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545336"/>
            <a:ext cx="603504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23262A"/>
                </a:solidFill>
                <a:latin typeface="Poppins"/>
              </a:defRPr>
            </a:pPr>
            <a:r>
              <a:t>WAVE 2 · H1 2027 (CURRENTLY IN PROTOTYPING)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993392"/>
            <a:ext cx="1993392" cy="324612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2700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9264" y="2139696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615184"/>
            <a:ext cx="162763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[ Photo 01 ]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474720"/>
            <a:ext cx="1664208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DEC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712463"/>
            <a:ext cx="1664208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Magical Living</a:t>
            </a:r>
          </a:p>
          <a:p>
            <a:pPr algn="l">
              <a:lnSpc>
                <a:spcPct val="115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Photo Frame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370832"/>
            <a:ext cx="16642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Portraits wave hello &amp; react to live local weather.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62656" y="1993392"/>
            <a:ext cx="1993392" cy="324612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2700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08960" y="2139696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45536" y="2615184"/>
            <a:ext cx="162763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[ Photo 02 ]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474720"/>
            <a:ext cx="1664208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DEC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7248" y="3712463"/>
            <a:ext cx="1664208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Pocket</a:t>
            </a:r>
          </a:p>
          <a:p>
            <a:pPr algn="l">
              <a:lnSpc>
                <a:spcPct val="115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Bible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7248" y="4370832"/>
            <a:ext cx="16642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Standalone E-Ink + 4G daily Christian companion.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02352" y="1993392"/>
            <a:ext cx="1993392" cy="324612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48656" y="2139696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2" y="2615184"/>
            <a:ext cx="162763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[ Photo 03 ]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3474720"/>
            <a:ext cx="1664208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3712463"/>
            <a:ext cx="1664208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Dream</a:t>
            </a:r>
          </a:p>
          <a:p>
            <a:pPr algn="l">
              <a:lnSpc>
                <a:spcPct val="115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Printer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4370832"/>
            <a:ext cx="16642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One-button morning dream art &amp; connected diary.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42048" y="1993392"/>
            <a:ext cx="1993392" cy="324612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88352" y="2139696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24927" y="2615184"/>
            <a:ext cx="162763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[ Photo 04 ]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474720"/>
            <a:ext cx="1664208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712463"/>
            <a:ext cx="1664208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Voice Gaming</a:t>
            </a:r>
          </a:p>
          <a:p>
            <a:pPr algn="l">
              <a:lnSpc>
                <a:spcPct val="115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Walkie-Talkie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370832"/>
            <a:ext cx="16642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Co-op voice rescue with a stranded character.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81744" y="1993392"/>
            <a:ext cx="1993392" cy="324612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528048" y="2139696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64624" y="2615184"/>
            <a:ext cx="162763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[ Photo 05 ]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6336" y="3474720"/>
            <a:ext cx="1664208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6336" y="3712463"/>
            <a:ext cx="1664208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Kids’ E-Ink</a:t>
            </a:r>
          </a:p>
          <a:p>
            <a:pPr algn="l">
              <a:lnSpc>
                <a:spcPct val="115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Doodle Pad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46336" y="4370832"/>
            <a:ext cx="16642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Turns children’s sketches into interactive comics.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413248"/>
            <a:ext cx="10543032" cy="658368"/>
          </a:xfrm>
          <a:prstGeom prst="roundRect">
            <a:avLst>
              <a:gd name="adj" fmla="val 5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5623560"/>
            <a:ext cx="585216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Deep Backlog:  Launching 6–10 new Fun AI hardware products every year.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5623560"/>
            <a:ext cx="402336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000" b="1">
                <a:solidFill>
                  <a:srgbClr val="58725C"/>
                </a:solidFill>
                <a:latin typeface="Poppins"/>
              </a:defRPr>
            </a:pPr>
            <a:r>
              <a:t>See Appendix (A1–A3) for full product visuals  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68580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05 · DEFENSIBILITY &amp;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38912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56264" y="539496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6355080"/>
            <a:ext cx="112471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06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68096"/>
            <a:ext cx="10543032" cy="47548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2300" b="1">
                <a:solidFill>
                  <a:srgbClr val="23262A"/>
                </a:solidFill>
                <a:latin typeface="Poppins"/>
              </a:defRPr>
            </a:pPr>
            <a:r>
              <a:t>Capturing the Data That Doesn’t Exist on the Internet.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120640" cy="1207008"/>
          </a:xfrm>
          <a:prstGeom prst="roundRect">
            <a:avLst>
              <a:gd name="adj" fmla="val 4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45920"/>
            <a:ext cx="457200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8E9298"/>
                </a:solidFill>
                <a:latin typeface="Poppins"/>
              </a:defRPr>
            </a:pPr>
            <a:r>
              <a:t>PUBLIC INTERNET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457200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Teaches AI how to work, code, and summarize.</a:t>
            </a:r>
          </a:p>
          <a:p>
            <a:pPr algn="l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Every competitor scrapes the exact same web.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463040"/>
            <a:ext cx="5120640" cy="1207008"/>
          </a:xfrm>
          <a:prstGeom prst="roundRect">
            <a:avLst>
              <a:gd name="adj" fmla="val 4000"/>
            </a:avLst>
          </a:prstGeom>
          <a:solidFill>
            <a:srgbClr val="CAFB5B"/>
          </a:solidFill>
          <a:ln w="1905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645920"/>
            <a:ext cx="457200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23262A"/>
                </a:solidFill>
                <a:latin typeface="Poppins"/>
              </a:defRPr>
            </a:pPr>
            <a:r>
              <a:t>BANRAI PROPRIETARY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1920240"/>
            <a:ext cx="457200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Captures how humans play, laugh, and wonder.</a:t>
            </a:r>
          </a:p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Zero public dataset exists—it must be earned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017520"/>
            <a:ext cx="2377440" cy="2331720"/>
          </a:xfrm>
          <a:prstGeom prst="roundRect">
            <a:avLst>
              <a:gd name="adj" fmla="val 5000"/>
            </a:avLst>
          </a:prstGeom>
          <a:solidFill>
            <a:srgbClr val="FBFAF7"/>
          </a:solidFill>
          <a:ln w="12700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310128"/>
            <a:ext cx="210312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01 · 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75887"/>
            <a:ext cx="2157984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6–10 Products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160520"/>
            <a:ext cx="2103120" cy="6858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Ambient devices</a:t>
            </a:r>
          </a:p>
          <a:p>
            <a:pPr algn="ctr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across daily life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4169663"/>
            <a:ext cx="347472" cy="22860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32988" y="4140403"/>
            <a:ext cx="82296" cy="82296"/>
          </a:xfrm>
          <a:prstGeom prst="ellipse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47872" y="3017520"/>
            <a:ext cx="2377440" cy="2331720"/>
          </a:xfrm>
          <a:prstGeom prst="roundRect">
            <a:avLst>
              <a:gd name="adj" fmla="val 5000"/>
            </a:avLst>
          </a:prstGeom>
          <a:solidFill>
            <a:srgbClr val="E1E8E0"/>
          </a:solidFill>
          <a:ln w="12700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5032" y="3310128"/>
            <a:ext cx="210312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02 · SPARK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675887"/>
            <a:ext cx="2157984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Spontaneous Play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5032" y="4160520"/>
            <a:ext cx="2103120" cy="6858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Users talk for joy,</a:t>
            </a:r>
          </a:p>
          <a:p>
            <a:pPr algn="ctr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not chores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25312" y="4169663"/>
            <a:ext cx="347472" cy="22860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7900" y="4140403"/>
            <a:ext cx="82296" cy="82296"/>
          </a:xfrm>
          <a:prstGeom prst="ellipse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72784" y="3017520"/>
            <a:ext cx="2377440" cy="2331720"/>
          </a:xfrm>
          <a:prstGeom prst="roundRect">
            <a:avLst>
              <a:gd name="adj" fmla="val 5000"/>
            </a:avLst>
          </a:prstGeom>
          <a:solidFill>
            <a:srgbClr val="FBFAF7"/>
          </a:solidFill>
          <a:ln w="12700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9944" y="3310128"/>
            <a:ext cx="210312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03 · COLLECT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3675887"/>
            <a:ext cx="2157984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Exclusive Joy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4160520"/>
            <a:ext cx="2103120" cy="6858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Un-scrapable</a:t>
            </a:r>
          </a:p>
          <a:p>
            <a:pPr algn="ctr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emotional signals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50224" y="4169663"/>
            <a:ext cx="347472" cy="22860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82812" y="4140403"/>
            <a:ext cx="82296" cy="82296"/>
          </a:xfrm>
          <a:prstGeom prst="ellipse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97696" y="3017520"/>
            <a:ext cx="2377440" cy="2331720"/>
          </a:xfrm>
          <a:prstGeom prst="roundRect">
            <a:avLst>
              <a:gd name="adj" fmla="val 5000"/>
            </a:avLst>
          </a:prstGeom>
          <a:solidFill>
            <a:srgbClr val="E1E8E0"/>
          </a:solidFill>
          <a:ln w="12700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34856" y="3310128"/>
            <a:ext cx="210312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04 · EVOLVE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424" y="3675887"/>
            <a:ext cx="2157984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Smarter “Fun AI”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6" y="4160520"/>
            <a:ext cx="2103120" cy="6858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Compounds retention</a:t>
            </a:r>
          </a:p>
          <a:p>
            <a:pPr algn="ctr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across all SKUs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45920" y="5559552"/>
            <a:ext cx="8897112" cy="438912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0" y="5669280"/>
            <a:ext cx="8531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60656C"/>
                </a:solidFill>
                <a:latin typeface="Poppins"/>
              </a:defRPr>
            </a:pPr>
            <a:r>
              <a:t>CONTINUOUS COMPOUNDING FLYWHEEL ACROSS EVERY BRAND &amp; HARDWARE 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68580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06 ·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38912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56264" y="539496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6355080"/>
            <a:ext cx="112471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07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68096"/>
            <a:ext cx="10543032" cy="47548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2300" b="1">
                <a:solidFill>
                  <a:srgbClr val="23262A"/>
                </a:solidFill>
                <a:latin typeface="Poppins"/>
              </a:defRPr>
            </a:pPr>
            <a:r>
              <a:t>Delightfully “Useless.” Commercially Unstoppable.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3337560" cy="288036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5875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29718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60656C"/>
                </a:solidFill>
                <a:latin typeface="Poppins"/>
              </a:defRPr>
            </a:pPr>
            <a:r>
              <a:t>CATEGORY OF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2971800" cy="3474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350" b="1">
                <a:solidFill>
                  <a:srgbClr val="23262A"/>
                </a:solidFill>
                <a:latin typeface="Poppins"/>
              </a:defRPr>
            </a:pPr>
            <a:r>
              <a:t>Fun AI &gt; Functional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Owning daily consumer joy &amp; voice while the rest of tech fights over spreadsheets.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554480"/>
            <a:ext cx="3337560" cy="2880360"/>
          </a:xfrm>
          <a:prstGeom prst="roundRect">
            <a:avLst>
              <a:gd name="adj" fmla="val 4000"/>
            </a:avLst>
          </a:prstGeom>
          <a:solidFill>
            <a:srgbClr val="CAFB5B"/>
          </a:solidFill>
          <a:ln w="1587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874519"/>
            <a:ext cx="29718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60656C"/>
                </a:solidFill>
                <a:latin typeface="Poppins"/>
              </a:defRPr>
            </a:pPr>
            <a:r>
              <a:t>ASYMMETRIC HARDWARE MATH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240280"/>
            <a:ext cx="2971800" cy="3474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350" b="1">
                <a:solidFill>
                  <a:srgbClr val="23262A"/>
                </a:solidFill>
                <a:latin typeface="Poppins"/>
              </a:defRPr>
            </a:pPr>
            <a:r>
              <a:t>&lt; 9 Mos  ·  $150K–$200K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788920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1 shared AI + SaaS backend powers 6–10 US hardware launches per year.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1554480"/>
            <a:ext cx="3337560" cy="288036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5875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1" y="1874519"/>
            <a:ext cx="29718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60656C"/>
                </a:solidFill>
                <a:latin typeface="Poppins"/>
              </a:defRPr>
            </a:pPr>
            <a:r>
              <a:t>COMPOUNDING DATA MOAT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240280"/>
            <a:ext cx="2971800" cy="3474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350" b="1">
                <a:solidFill>
                  <a:srgbClr val="23262A"/>
                </a:solidFill>
                <a:latin typeface="Poppins"/>
              </a:defRPr>
            </a:pPr>
            <a:r>
              <a:t>2 Launching · 3 Prototyping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1" y="2788920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2,000 US units shipping Dec 2026; building the only dataset of human play.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709160"/>
            <a:ext cx="10543032" cy="132588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029200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21" name="Oval 20"/>
          <p:cNvSpPr/>
          <p:nvPr/>
        </p:nvSpPr>
        <p:spPr>
          <a:xfrm>
            <a:off x="2157984" y="5129784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413248"/>
            <a:ext cx="4114800" cy="3200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350" b="1">
                <a:solidFill>
                  <a:srgbClr val="23262A"/>
                </a:solidFill>
                <a:latin typeface="Poppins"/>
              </a:defRPr>
            </a:pPr>
            <a:r>
              <a:t>Make Humans Talk Again.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65776"/>
            <a:ext cx="5349240" cy="6583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40000"/>
              </a:lnSpc>
              <a:defRPr sz="1100" b="0">
                <a:solidFill>
                  <a:srgbClr val="60656C"/>
                </a:solidFill>
                <a:latin typeface="Poppins"/>
              </a:defRPr>
            </a:pPr>
            <a:r>
              <a:t>banrai.ai   ·   hello@banrai.ai</a:t>
            </a:r>
          </a:p>
          <a:p>
            <a:pPr algn="r">
              <a:lnSpc>
                <a:spcPct val="140000"/>
              </a:lnSpc>
              <a:defRPr sz="1100" b="0">
                <a:solidFill>
                  <a:srgbClr val="60656C"/>
                </a:solidFill>
                <a:latin typeface="Poppins"/>
              </a:defRPr>
            </a:pPr>
            <a:r>
              <a:t>Seed+ Investor Presentation  ·  Product Appendix Follows  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68580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APPENDIX A1 · WAVE 1 PRODUCT GALLERY (DEC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38912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56264" y="539496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6355080"/>
            <a:ext cx="112471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A1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68096"/>
            <a:ext cx="10543032" cy="47548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2300" b="1">
                <a:solidFill>
                  <a:srgbClr val="23262A"/>
                </a:solidFill>
                <a:latin typeface="Poppins"/>
              </a:defRPr>
            </a:pPr>
            <a:r>
              <a:t>Shipping Dec 2026: 1,000 US Units Each (On Budget)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120640" cy="466344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1645920"/>
            <a:ext cx="4718304" cy="2926080"/>
          </a:xfrm>
          <a:prstGeom prst="roundRect">
            <a:avLst>
              <a:gd name="adj" fmla="val 4000"/>
            </a:avLst>
          </a:prstGeom>
          <a:solidFill>
            <a:srgbClr val="ECE9E1"/>
          </a:solidFill>
          <a:ln w="15875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163824" y="2615184"/>
            <a:ext cx="438912" cy="438912"/>
          </a:xfrm>
          <a:prstGeom prst="ellipse">
            <a:avLst/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63824" y="2615184"/>
            <a:ext cx="438912" cy="4389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defRPr sz="1600" b="0">
                <a:solidFill>
                  <a:srgbClr val="60656C"/>
                </a:solidFill>
                <a:latin typeface="Poppins"/>
              </a:defRPr>
            </a:pPr>
            <a: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182112"/>
            <a:ext cx="43525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[ Drop Product Photo · Magical Living Photo Frame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493008"/>
            <a:ext cx="43525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16:10 frame for hardware + animated portrait preview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4736592"/>
            <a:ext cx="1572768" cy="256032"/>
          </a:xfrm>
          <a:prstGeom prst="roundRect">
            <a:avLst>
              <a:gd name="adj" fmla="val 15000"/>
            </a:avLst>
          </a:prstGeom>
          <a:solidFill>
            <a:srgbClr val="CAFB5B"/>
          </a:solidFill>
          <a:ln w="1270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4782312"/>
            <a:ext cx="1499616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00" b="1">
                <a:solidFill>
                  <a:srgbClr val="23262A"/>
                </a:solidFill>
                <a:latin typeface="Poppins"/>
              </a:defRPr>
            </a:pPr>
            <a:r>
              <a:t>DEC 2026 · 1K UNITS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6624" y="4718304"/>
            <a:ext cx="3035808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350" b="1">
                <a:solidFill>
                  <a:srgbClr val="23262A"/>
                </a:solidFill>
                <a:latin typeface="Poppins"/>
              </a:defRPr>
            </a:pPr>
            <a:r>
              <a:t>Magical Living Photo Frame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138928"/>
            <a:ext cx="4718304" cy="8229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• Harry Potter-style portraits that wave hello as you walk by.</a:t>
            </a:r>
          </a:p>
          <a:p>
            <a:pPr algn="l">
              <a:lnSpc>
                <a:spcPct val="13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• Syncs with live local weather (opens an umbrella when it rains).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463040"/>
            <a:ext cx="5120640" cy="466344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46520" y="1645920"/>
            <a:ext cx="4718304" cy="2926080"/>
          </a:xfrm>
          <a:prstGeom prst="roundRect">
            <a:avLst>
              <a:gd name="adj" fmla="val 4000"/>
            </a:avLst>
          </a:prstGeom>
          <a:solidFill>
            <a:srgbClr val="ECE9E1"/>
          </a:solidFill>
          <a:ln w="15875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86215" y="2615184"/>
            <a:ext cx="438912" cy="438912"/>
          </a:xfrm>
          <a:prstGeom prst="ellipse">
            <a:avLst/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5" y="2615184"/>
            <a:ext cx="438912" cy="4389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defRPr sz="1600" b="0">
                <a:solidFill>
                  <a:srgbClr val="60656C"/>
                </a:solidFill>
                <a:latin typeface="Poppins"/>
              </a:defRPr>
            </a:pPr>
            <a: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182112"/>
            <a:ext cx="43525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[ Drop Product Photo · Pocket Interactive Bible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493008"/>
            <a:ext cx="43525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16:10 frame for standalone E-Ink + 4G hardware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4736592"/>
            <a:ext cx="1572768" cy="256032"/>
          </a:xfrm>
          <a:prstGeom prst="roundRect">
            <a:avLst>
              <a:gd name="adj" fmla="val 15000"/>
            </a:avLst>
          </a:prstGeom>
          <a:solidFill>
            <a:srgbClr val="E1E8E0"/>
          </a:solidFill>
          <a:ln w="12700">
            <a:solidFill>
              <a:srgbClr val="587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4782312"/>
            <a:ext cx="1499616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00" b="1">
                <a:solidFill>
                  <a:srgbClr val="23262A"/>
                </a:solidFill>
                <a:latin typeface="Poppins"/>
              </a:defRPr>
            </a:pPr>
            <a:r>
              <a:t>DEC 2026 · 1K UNITS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9016" y="4718304"/>
            <a:ext cx="3035808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350" b="1">
                <a:solidFill>
                  <a:srgbClr val="23262A"/>
                </a:solidFill>
                <a:latin typeface="Poppins"/>
              </a:defRPr>
            </a:pPr>
            <a:r>
              <a:t>Pocket Interactive Bible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138928"/>
            <a:ext cx="4718304" cy="8229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• Standalone E-Ink + 4G device for focused, distraction-free faith.</a:t>
            </a:r>
          </a:p>
          <a:p>
            <a:pPr algn="l">
              <a:lnSpc>
                <a:spcPct val="13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• Warm Christian companion that deepens Scripture via daily talk.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68580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APPENDIX A2 · WAVE 2 PRODUCT GALLERY (H1 2027)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38912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56264" y="539496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6355080"/>
            <a:ext cx="112471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A2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68096"/>
            <a:ext cx="10543032" cy="47548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2300" b="1">
                <a:solidFill>
                  <a:srgbClr val="23262A"/>
                </a:solidFill>
                <a:latin typeface="Poppins"/>
              </a:defRPr>
            </a:pPr>
            <a:r>
              <a:t>Prototyping for H1 2027: Morning Rituals &amp; Voice Gaming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120640" cy="466344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1645920"/>
            <a:ext cx="4718304" cy="2926080"/>
          </a:xfrm>
          <a:prstGeom prst="roundRect">
            <a:avLst>
              <a:gd name="adj" fmla="val 4000"/>
            </a:avLst>
          </a:prstGeom>
          <a:solidFill>
            <a:srgbClr val="ECE9E1"/>
          </a:solidFill>
          <a:ln w="15875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163824" y="2615184"/>
            <a:ext cx="438912" cy="438912"/>
          </a:xfrm>
          <a:prstGeom prst="ellipse">
            <a:avLst/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63824" y="2615184"/>
            <a:ext cx="438912" cy="4389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defRPr sz="1600" b="0">
                <a:solidFill>
                  <a:srgbClr val="60656C"/>
                </a:solidFill>
                <a:latin typeface="Poppins"/>
              </a:defRPr>
            </a:pPr>
            <a: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182112"/>
            <a:ext cx="43525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[ Drop Product Photo · Dream Printer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493008"/>
            <a:ext cx="43525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Bedside alarm-clock hardware + visual dream diary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4736592"/>
            <a:ext cx="1645920" cy="256032"/>
          </a:xfrm>
          <a:prstGeom prst="roundRect">
            <a:avLst>
              <a:gd name="adj" fmla="val 15000"/>
            </a:avLst>
          </a:prstGeom>
          <a:solidFill>
            <a:srgbClr val="E0E7EC"/>
          </a:solidFill>
          <a:ln w="12700">
            <a:solidFill>
              <a:srgbClr val="4E6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4782312"/>
            <a:ext cx="1572768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00" b="1">
                <a:solidFill>
                  <a:srgbClr val="23262A"/>
                </a:solidFill>
                <a:latin typeface="Poppins"/>
              </a:defRPr>
            </a:pPr>
            <a:r>
              <a:t>H1 2027 ·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4718304"/>
            <a:ext cx="2962656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350" b="1">
                <a:solidFill>
                  <a:srgbClr val="23262A"/>
                </a:solidFill>
                <a:latin typeface="Poppins"/>
              </a:defRPr>
            </a:pPr>
            <a:r>
              <a:t>Dream Printer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138928"/>
            <a:ext cx="4718304" cy="8229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• Press a button upon waking to record &amp; illustrate your dream.</a:t>
            </a:r>
          </a:p>
          <a:p>
            <a:pPr algn="l">
              <a:lnSpc>
                <a:spcPct val="13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• Builds a connected dream diary linking themes across prior nights.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463040"/>
            <a:ext cx="5120640" cy="466344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46520" y="1645920"/>
            <a:ext cx="4718304" cy="2926080"/>
          </a:xfrm>
          <a:prstGeom prst="roundRect">
            <a:avLst>
              <a:gd name="adj" fmla="val 4000"/>
            </a:avLst>
          </a:prstGeom>
          <a:solidFill>
            <a:srgbClr val="ECE9E1"/>
          </a:solidFill>
          <a:ln w="15875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86215" y="2615184"/>
            <a:ext cx="438912" cy="438912"/>
          </a:xfrm>
          <a:prstGeom prst="ellipse">
            <a:avLst/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5" y="2615184"/>
            <a:ext cx="438912" cy="4389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defRPr sz="1600" b="0">
                <a:solidFill>
                  <a:srgbClr val="60656C"/>
                </a:solidFill>
                <a:latin typeface="Poppins"/>
              </a:defRPr>
            </a:pPr>
            <a: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182112"/>
            <a:ext cx="43525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[ Drop Product Photo · Voice Walkie-Talkie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493008"/>
            <a:ext cx="43525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Tactile walkie-talkie gaming hardware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4736592"/>
            <a:ext cx="1645920" cy="256032"/>
          </a:xfrm>
          <a:prstGeom prst="roundRect">
            <a:avLst>
              <a:gd name="adj" fmla="val 15000"/>
            </a:avLst>
          </a:prstGeom>
          <a:solidFill>
            <a:srgbClr val="E0E7EC"/>
          </a:solidFill>
          <a:ln w="12700">
            <a:solidFill>
              <a:srgbClr val="4E6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4782312"/>
            <a:ext cx="1572768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00" b="1">
                <a:solidFill>
                  <a:srgbClr val="23262A"/>
                </a:solidFill>
                <a:latin typeface="Poppins"/>
              </a:defRPr>
            </a:pPr>
            <a:r>
              <a:t>H1 2027 · PROTOTYPE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718304"/>
            <a:ext cx="2962656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Voice Gaming Walkie-Talkie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138928"/>
            <a:ext cx="4718304" cy="8229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• A character stranded on an alien planet or escape room calls you.</a:t>
            </a:r>
          </a:p>
          <a:p>
            <a:pPr algn="l">
              <a:lnSpc>
                <a:spcPct val="13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• Calm them down, guide exploration, and solve live incidents by voice.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685800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APPENDIX A3 · WAVE 2 PRODUCT GALLERY (H1 2027)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38912"/>
            <a:ext cx="100584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56264" y="539496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6355080"/>
            <a:ext cx="112471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A3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68096"/>
            <a:ext cx="10543032" cy="47548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  <a:defRPr sz="2300" b="1">
                <a:solidFill>
                  <a:srgbClr val="23262A"/>
                </a:solidFill>
                <a:latin typeface="Poppins"/>
              </a:defRPr>
            </a:pPr>
            <a:r>
              <a:t>Prototyping for H1 2027: E-Ink Children’s Story Doodle Pad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4160520" cy="466344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1719072"/>
            <a:ext cx="1737360" cy="256032"/>
          </a:xfrm>
          <a:prstGeom prst="roundRect">
            <a:avLst>
              <a:gd name="adj" fmla="val 15000"/>
            </a:avLst>
          </a:prstGeom>
          <a:solidFill>
            <a:srgbClr val="CAFB5B"/>
          </a:solidFill>
          <a:ln w="1270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764792"/>
            <a:ext cx="1664208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00" b="1">
                <a:solidFill>
                  <a:srgbClr val="23262A"/>
                </a:solidFill>
                <a:latin typeface="Poppins"/>
              </a:defRPr>
            </a:pPr>
            <a:r>
              <a:t>H1 2027 · PROTOTYPE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39696"/>
            <a:ext cx="3611880" cy="6217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  <a:defRPr sz="1800" b="1">
                <a:solidFill>
                  <a:srgbClr val="23262A"/>
                </a:solidFill>
                <a:latin typeface="Poppins"/>
              </a:defRPr>
            </a:pPr>
            <a:r>
              <a:t>Eye-Friendly E-Ink</a:t>
            </a:r>
          </a:p>
          <a:p>
            <a:pPr algn="l">
              <a:lnSpc>
                <a:spcPct val="118000"/>
              </a:lnSpc>
              <a:defRPr sz="1800" b="1">
                <a:solidFill>
                  <a:srgbClr val="23262A"/>
                </a:solidFill>
                <a:latin typeface="Poppins"/>
              </a:defRPr>
            </a:pPr>
            <a:r>
              <a:t>Children’s Doodle Pad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52928"/>
            <a:ext cx="361188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How kids should experience AI—long before they even know what AI 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493008"/>
            <a:ext cx="3611880" cy="658368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3602736"/>
            <a:ext cx="329184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01 · Sketch to Comic 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3840480"/>
            <a:ext cx="329184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Extends any sketch into a comic story.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279392"/>
            <a:ext cx="3611880" cy="658368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389120"/>
            <a:ext cx="329184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02 · Visual Curiosity Q&amp;A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4626864"/>
            <a:ext cx="329184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Answers doodled or written questions.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5065776"/>
            <a:ext cx="3611880" cy="658368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61872" y="5175504"/>
            <a:ext cx="329184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03 · Calm E-Ink Screen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5413248"/>
            <a:ext cx="3291840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Zero blue light or addictive feeds.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12080" y="1463040"/>
            <a:ext cx="6153912" cy="466344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13248" y="1664208"/>
            <a:ext cx="5751576" cy="4261104"/>
          </a:xfrm>
          <a:prstGeom prst="roundRect">
            <a:avLst>
              <a:gd name="adj" fmla="val 4000"/>
            </a:avLst>
          </a:prstGeom>
          <a:solidFill>
            <a:srgbClr val="ECE9E1"/>
          </a:solidFill>
          <a:ln w="15875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69579" y="3300984"/>
            <a:ext cx="438912" cy="438912"/>
          </a:xfrm>
          <a:prstGeom prst="ellipse">
            <a:avLst/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9579" y="3300984"/>
            <a:ext cx="438912" cy="43891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defRPr sz="1600" b="0">
                <a:solidFill>
                  <a:srgbClr val="60656C"/>
                </a:solidFill>
                <a:latin typeface="Poppins"/>
              </a:defRPr>
            </a:pPr>
            <a: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96128" y="3867912"/>
            <a:ext cx="5385816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[ Hero Product Photo · E-Ink Children’s Story Doodle Pad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8" y="4178808"/>
            <a:ext cx="5385816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Drop large hardware photo + child sketch-to-comic sequence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