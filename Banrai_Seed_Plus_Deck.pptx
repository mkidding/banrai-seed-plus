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4360"/>
            <a:ext cx="10820095" cy="5669280"/>
          </a:xfrm>
          <a:prstGeom prst="roundRect">
            <a:avLst>
              <a:gd name="adj" fmla="val 3000"/>
            </a:avLst>
          </a:prstGeom>
          <a:solidFill>
            <a:srgbClr val="FBFAF7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0" y="169164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6000" b="1">
                <a:solidFill>
                  <a:srgbClr val="23262A"/>
                </a:solidFill>
                <a:latin typeface="Poppins"/>
              </a:defRPr>
            </a:pPr>
            <a:r>
              <a:t>Banrai</a:t>
            </a:r>
          </a:p>
        </p:txBody>
      </p:sp>
      <p:sp>
        <p:nvSpPr>
          <p:cNvPr id="4" name="Oval 3"/>
          <p:cNvSpPr/>
          <p:nvPr/>
        </p:nvSpPr>
        <p:spPr>
          <a:xfrm>
            <a:off x="7406640" y="2130552"/>
            <a:ext cx="201168" cy="201168"/>
          </a:xfrm>
          <a:prstGeom prst="ellipse">
            <a:avLst/>
          </a:prstGeom>
          <a:solidFill>
            <a:srgbClr val="CAFB5B"/>
          </a:solidFill>
          <a:ln w="12700">
            <a:solidFill>
              <a:srgbClr val="9C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880360"/>
            <a:ext cx="944849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2800" b="1">
                <a:solidFill>
                  <a:srgbClr val="23262A"/>
                </a:solidFill>
                <a:latin typeface="Poppins"/>
              </a:defRPr>
            </a:pPr>
            <a:r>
              <a:t>Consumer AI Hardware Built for Joy, Not Chores.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493008"/>
            <a:ext cx="7619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300" b="0">
                <a:solidFill>
                  <a:srgbClr val="60656C"/>
                </a:solidFill>
                <a:latin typeface="Poppins"/>
              </a:defRPr>
            </a:pPr>
            <a:r>
              <a:t>Make Humans Talk Again  ·  Seed+ Investor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8760" y="4526280"/>
            <a:ext cx="2880360" cy="1051560"/>
          </a:xfrm>
          <a:prstGeom prst="roundRect">
            <a:avLst>
              <a:gd name="adj" fmla="val 8000"/>
            </a:avLst>
          </a:prstGeom>
          <a:solidFill>
            <a:srgbClr val="ECE9E1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19" y="4736592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300" b="1">
                <a:solidFill>
                  <a:srgbClr val="23262A"/>
                </a:solidFill>
                <a:latin typeface="Poppins"/>
              </a:defRPr>
            </a:pPr>
            <a:r>
              <a:t>100% Hard-Subscription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507492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050" b="0">
                <a:solidFill>
                  <a:srgbClr val="60656C"/>
                </a:solidFill>
                <a:latin typeface="Poppins"/>
              </a:defRPr>
            </a:pPr>
            <a:r>
              <a:t>SaaS recurring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4526280"/>
            <a:ext cx="2880360" cy="1051560"/>
          </a:xfrm>
          <a:prstGeom prst="roundRect">
            <a:avLst>
              <a:gd name="adj" fmla="val 8000"/>
            </a:avLst>
          </a:prstGeom>
          <a:solidFill>
            <a:srgbClr val="CAFB5B"/>
          </a:solidFill>
          <a:ln w="12700">
            <a:solidFill>
              <a:srgbClr val="9C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4736592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300" b="1">
                <a:solidFill>
                  <a:srgbClr val="23262A"/>
                </a:solidFill>
                <a:latin typeface="Poppins"/>
              </a:defRPr>
            </a:pPr>
            <a:r>
              <a:t>&lt; 9 Mos  ·  $150K–$200K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507492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050" b="0">
                <a:solidFill>
                  <a:srgbClr val="60656C"/>
                </a:solidFill>
                <a:latin typeface="Poppins"/>
              </a:defRPr>
            </a:pPr>
            <a:r>
              <a:t>Concept to 1,000 US units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4526280"/>
            <a:ext cx="2880360" cy="1051560"/>
          </a:xfrm>
          <a:prstGeom prst="roundRect">
            <a:avLst>
              <a:gd name="adj" fmla="val 8000"/>
            </a:avLst>
          </a:prstGeom>
          <a:solidFill>
            <a:srgbClr val="ECE9E1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4736592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300" b="1">
                <a:solidFill>
                  <a:srgbClr val="23262A"/>
                </a:solidFill>
                <a:latin typeface="Poppins"/>
              </a:defRPr>
            </a:pPr>
            <a:r>
              <a:t>6–10 Products /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507492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050" b="0">
                <a:solidFill>
                  <a:srgbClr val="60656C"/>
                </a:solidFill>
                <a:latin typeface="Poppins"/>
              </a:defRPr>
            </a:pPr>
            <a:r>
              <a:t>Powered by 1 shared backend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1">
                <a:solidFill>
                  <a:srgbClr val="58725C"/>
                </a:solidFill>
                <a:latin typeface="Poppins"/>
              </a:defRPr>
            </a:pPr>
            <a:r>
              <a:t>01 · CATEGORY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1400" b="1">
                <a:solidFill>
                  <a:srgbClr val="23262A"/>
                </a:solidFill>
                <a:latin typeface="Poppins"/>
              </a:defRPr>
            </a:pPr>
            <a:r>
              <a:t>Banrai</a:t>
            </a:r>
          </a:p>
        </p:txBody>
      </p:sp>
      <p:sp>
        <p:nvSpPr>
          <p:cNvPr id="4" name="Oval 3"/>
          <p:cNvSpPr/>
          <p:nvPr/>
        </p:nvSpPr>
        <p:spPr>
          <a:xfrm>
            <a:off x="11247120" y="557784"/>
            <a:ext cx="82296" cy="82296"/>
          </a:xfrm>
          <a:prstGeom prst="ellipse">
            <a:avLst/>
          </a:prstGeom>
          <a:solidFill>
            <a:srgbClr val="CAFB5B"/>
          </a:solidFill>
          <a:ln w="9525">
            <a:solidFill>
              <a:srgbClr val="9C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6309360"/>
            <a:ext cx="1051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900" b="0">
                <a:solidFill>
                  <a:srgbClr val="8E9298"/>
                </a:solidFill>
                <a:latin typeface="Poppins"/>
              </a:defRPr>
            </a:pPr>
            <a:r>
              <a:t>02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9601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defRPr sz="2800" b="1">
                <a:solidFill>
                  <a:srgbClr val="23262A"/>
                </a:solidFill>
                <a:latin typeface="Poppins"/>
              </a:defRPr>
            </a:pPr>
            <a:r>
              <a:t>Everyone Builds Functional AI. We Build Fun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6217920" cy="4480560"/>
          </a:xfrm>
          <a:prstGeom prst="roundRect">
            <a:avLst>
              <a:gd name="adj" fmla="val 3000"/>
            </a:avLst>
          </a:prstGeom>
          <a:solidFill>
            <a:srgbClr val="FBFAF7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82880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1">
                <a:solidFill>
                  <a:srgbClr val="8E9298"/>
                </a:solidFill>
                <a:latin typeface="Poppins"/>
              </a:defRPr>
            </a:pPr>
            <a:r>
              <a:t>CONSUMER AI LANDSCAPE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931920"/>
            <a:ext cx="5120640" cy="27432"/>
          </a:xfrm>
          <a:prstGeom prst="rect">
            <a:avLst/>
          </a:prstGeom>
          <a:solidFill>
            <a:srgbClr val="A8A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31920" y="2240280"/>
            <a:ext cx="27432" cy="3383280"/>
          </a:xfrm>
          <a:prstGeom prst="rect">
            <a:avLst/>
          </a:prstGeom>
          <a:solidFill>
            <a:srgbClr val="A8A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4023360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1">
                <a:solidFill>
                  <a:srgbClr val="8E9298"/>
                </a:solidFill>
                <a:latin typeface="Poppins"/>
              </a:defRPr>
            </a:pPr>
            <a:r>
              <a:t>← Work &amp;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023360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950" b="1">
                <a:solidFill>
                  <a:srgbClr val="58725C"/>
                </a:solidFill>
                <a:latin typeface="Poppins"/>
              </a:defRPr>
            </a:pPr>
            <a:r>
              <a:t>Play &amp; Daily Joy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965960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1">
                <a:solidFill>
                  <a:srgbClr val="60656C"/>
                </a:solidFill>
                <a:latin typeface="Poppins"/>
              </a:defRPr>
            </a:pPr>
            <a:r>
              <a:t>↑ Tactile Hardware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5687568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1">
                <a:solidFill>
                  <a:srgbClr val="8E9298"/>
                </a:solidFill>
                <a:latin typeface="Poppins"/>
              </a:defRPr>
            </a:pPr>
            <a:r>
              <a:t>↓ Screen Chatbots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8760" y="4343400"/>
            <a:ext cx="2148840" cy="1097280"/>
          </a:xfrm>
          <a:prstGeom prst="roundRect">
            <a:avLst>
              <a:gd name="adj" fmla="val 8000"/>
            </a:avLst>
          </a:prstGeom>
          <a:solidFill>
            <a:srgbClr val="ECE9E1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49884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100" b="1">
                <a:solidFill>
                  <a:srgbClr val="60656C"/>
                </a:solidFill>
                <a:latin typeface="Poppins"/>
              </a:defRPr>
            </a:pPr>
            <a:r>
              <a:t>Functional AI Crowd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800600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0">
                <a:solidFill>
                  <a:srgbClr val="8E9298"/>
                </a:solidFill>
                <a:latin typeface="Poppins"/>
              </a:defRPr>
            </a:pPr>
            <a:r>
              <a:t>Emails, coding, productivity</a:t>
            </a:r>
          </a:p>
          <a:p>
            <a:pPr algn="ctr">
              <a:lnSpc>
                <a:spcPct val="120000"/>
              </a:lnSpc>
              <a:defRPr sz="950" b="0">
                <a:solidFill>
                  <a:srgbClr val="8E9298"/>
                </a:solidFill>
                <a:latin typeface="Poppins"/>
              </a:defRPr>
            </a:pPr>
            <a:r>
              <a:t>(99% of VC &amp; Big Tech)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08760" y="2514600"/>
            <a:ext cx="2148840" cy="1097280"/>
          </a:xfrm>
          <a:prstGeom prst="roundRect">
            <a:avLst>
              <a:gd name="adj" fmla="val 8000"/>
            </a:avLst>
          </a:prstGeom>
          <a:solidFill>
            <a:srgbClr val="ECE9E1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2697480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100" b="1">
                <a:solidFill>
                  <a:srgbClr val="60656C"/>
                </a:solidFill>
                <a:latin typeface="Poppins"/>
              </a:defRPr>
            </a:pPr>
            <a:r>
              <a:t>Utility Wearables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2999232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0">
                <a:solidFill>
                  <a:srgbClr val="8E9298"/>
                </a:solidFill>
                <a:latin typeface="Poppins"/>
              </a:defRPr>
            </a:pPr>
            <a:r>
              <a:t>Trying to replace the smartphone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2423160"/>
            <a:ext cx="2240280" cy="1280160"/>
          </a:xfrm>
          <a:prstGeom prst="roundRect">
            <a:avLst>
              <a:gd name="adj" fmla="val 8000"/>
            </a:avLst>
          </a:prstGeom>
          <a:solidFill>
            <a:srgbClr val="CAFB5B"/>
          </a:solidFill>
          <a:ln w="19050">
            <a:solidFill>
              <a:srgbClr val="9C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260604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300" b="1">
                <a:solidFill>
                  <a:srgbClr val="23262A"/>
                </a:solidFill>
                <a:latin typeface="Poppins"/>
              </a:defRPr>
            </a:pPr>
            <a:r>
              <a:t>Banrai · “Fun AI”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944368"/>
            <a:ext cx="1965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000" b="0">
                <a:solidFill>
                  <a:srgbClr val="23262A"/>
                </a:solidFill>
                <a:latin typeface="Poppins"/>
              </a:defRPr>
            </a:pPr>
            <a:r>
              <a:t>Delightfully “useless” hardware for daily joy &amp; conversation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600200"/>
            <a:ext cx="4050791" cy="1371600"/>
          </a:xfrm>
          <a:prstGeom prst="roundRect">
            <a:avLst>
              <a:gd name="adj" fmla="val 5000"/>
            </a:avLst>
          </a:prstGeom>
          <a:solidFill>
            <a:srgbClr val="FBFAF7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71231" y="1783080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58725C"/>
                </a:solidFill>
                <a:latin typeface="Poppins"/>
              </a:defRPr>
            </a:pPr>
            <a:r>
              <a:t>01 · COUNTER-TREND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1231" y="2020824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500" b="1">
                <a:solidFill>
                  <a:srgbClr val="23262A"/>
                </a:solidFill>
                <a:latin typeface="Poppins"/>
              </a:defRPr>
            </a:pPr>
            <a:r>
              <a:t>Delightfully “Useless”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71231" y="237744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050" b="0">
                <a:solidFill>
                  <a:srgbClr val="60656C"/>
                </a:solidFill>
                <a:latin typeface="Poppins"/>
              </a:defRPr>
            </a:pPr>
            <a:r>
              <a:t>Zero task optimization. Built purely for curiosity, laughter, and warmth.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3136391"/>
            <a:ext cx="4050791" cy="1371600"/>
          </a:xfrm>
          <a:prstGeom prst="roundRect">
            <a:avLst>
              <a:gd name="adj" fmla="val 5000"/>
            </a:avLst>
          </a:prstGeom>
          <a:solidFill>
            <a:srgbClr val="E1E8E0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71231" y="3319272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58725C"/>
                </a:solidFill>
                <a:latin typeface="Poppins"/>
              </a:defRPr>
            </a:pPr>
            <a:r>
              <a:t>02 · UNIFYING THEME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71231" y="3557015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500" b="1">
                <a:solidFill>
                  <a:srgbClr val="23262A"/>
                </a:solidFill>
                <a:latin typeface="Poppins"/>
              </a:defRPr>
            </a:pPr>
            <a:r>
              <a:t>“Make Humans Talk Again”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1" y="3913631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050" b="0">
                <a:solidFill>
                  <a:srgbClr val="60656C"/>
                </a:solidFill>
                <a:latin typeface="Poppins"/>
              </a:defRPr>
            </a:pPr>
            <a:r>
              <a:t>Replaces passive screen scrolling with active voice, stories, and imagination.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4672583"/>
            <a:ext cx="4050791" cy="1371600"/>
          </a:xfrm>
          <a:prstGeom prst="roundRect">
            <a:avLst>
              <a:gd name="adj" fmla="val 5000"/>
            </a:avLst>
          </a:prstGeom>
          <a:solidFill>
            <a:srgbClr val="FBFAF7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71231" y="4855464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58725C"/>
                </a:solidFill>
                <a:latin typeface="Poppins"/>
              </a:defRPr>
            </a:pPr>
            <a:r>
              <a:t>03 · MULTI-BRAND STRATEGY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71231" y="5093207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500" b="1">
                <a:solidFill>
                  <a:srgbClr val="23262A"/>
                </a:solidFill>
                <a:latin typeface="Poppins"/>
              </a:defRPr>
            </a:pPr>
            <a:r>
              <a:t>Ambient in Every Room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71231" y="5449823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050" b="0">
                <a:solidFill>
                  <a:srgbClr val="60656C"/>
                </a:solidFill>
                <a:latin typeface="Poppins"/>
              </a:defRPr>
            </a:pPr>
            <a:r>
              <a:t>Different brands &amp; form factors—from bedside clocks to living room frames.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1">
                <a:solidFill>
                  <a:srgbClr val="58725C"/>
                </a:solidFill>
                <a:latin typeface="Poppins"/>
              </a:defRPr>
            </a:pPr>
            <a:r>
              <a:t>02 ·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1400" b="1">
                <a:solidFill>
                  <a:srgbClr val="23262A"/>
                </a:solidFill>
                <a:latin typeface="Poppins"/>
              </a:defRPr>
            </a:pPr>
            <a:r>
              <a:t>Banrai</a:t>
            </a:r>
          </a:p>
        </p:txBody>
      </p:sp>
      <p:sp>
        <p:nvSpPr>
          <p:cNvPr id="4" name="Oval 3"/>
          <p:cNvSpPr/>
          <p:nvPr/>
        </p:nvSpPr>
        <p:spPr>
          <a:xfrm>
            <a:off x="11247120" y="557784"/>
            <a:ext cx="82296" cy="82296"/>
          </a:xfrm>
          <a:prstGeom prst="ellipse">
            <a:avLst/>
          </a:prstGeom>
          <a:solidFill>
            <a:srgbClr val="CAFB5B"/>
          </a:solidFill>
          <a:ln w="9525">
            <a:solidFill>
              <a:srgbClr val="9C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6309360"/>
            <a:ext cx="1051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900" b="0">
                <a:solidFill>
                  <a:srgbClr val="8E9298"/>
                </a:solidFill>
                <a:latin typeface="Poppins"/>
              </a:defRPr>
            </a:pPr>
            <a:r>
              <a:t>03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9601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defRPr sz="2800" b="1">
                <a:solidFill>
                  <a:srgbClr val="23262A"/>
                </a:solidFill>
                <a:latin typeface="Poppins"/>
              </a:defRPr>
            </a:pPr>
            <a:r>
              <a:t>Hardware Is the Vessel. SaaS Is the Engine.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543032" cy="1783080"/>
          </a:xfrm>
          <a:prstGeom prst="roundRect">
            <a:avLst>
              <a:gd name="adj" fmla="val 4000"/>
            </a:avLst>
          </a:prstGeom>
          <a:solidFill>
            <a:srgbClr val="ECE9E1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847088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1">
                <a:solidFill>
                  <a:srgbClr val="8E9298"/>
                </a:solidFill>
                <a:latin typeface="Poppins"/>
              </a:defRPr>
            </a:pPr>
            <a:r>
              <a:t>TRADITIONAL 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031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700" b="1">
                <a:solidFill>
                  <a:srgbClr val="60656C"/>
                </a:solidFill>
                <a:latin typeface="Poppins"/>
              </a:defRPr>
            </a:pPr>
            <a:r>
              <a:t>One-Time Unit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1460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050" b="0">
                <a:solidFill>
                  <a:srgbClr val="8E9298"/>
                </a:solidFill>
                <a:latin typeface="Poppins"/>
              </a:defRPr>
            </a:pPr>
            <a:r>
              <a:t>Profit stops at checkout. Forced to push Gen-2 upgrades to survive.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93392"/>
            <a:ext cx="2057400" cy="1097280"/>
          </a:xfrm>
          <a:prstGeom prst="roundRect">
            <a:avLst>
              <a:gd name="adj" fmla="val 6000"/>
            </a:avLst>
          </a:prstGeom>
          <a:solidFill>
            <a:srgbClr val="FBFAF7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150" b="1">
                <a:solidFill>
                  <a:srgbClr val="60656C"/>
                </a:solidFill>
                <a:latin typeface="Poppins"/>
              </a:defRPr>
            </a:pPr>
            <a:r>
              <a:t>Day 1: Sell 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54203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000" b="0">
                <a:solidFill>
                  <a:srgbClr val="8E9298"/>
                </a:solidFill>
                <a:latin typeface="Poppins"/>
              </a:defRPr>
            </a:pPr>
            <a:r>
              <a:t>One-off hardware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8E9298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1993392"/>
            <a:ext cx="2057400" cy="1097280"/>
          </a:xfrm>
          <a:prstGeom prst="roundRect">
            <a:avLst>
              <a:gd name="adj" fmla="val 6000"/>
            </a:avLst>
          </a:prstGeom>
          <a:solidFill>
            <a:srgbClr val="FBFAF7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212848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150" b="1">
                <a:solidFill>
                  <a:srgbClr val="60656C"/>
                </a:solidFill>
                <a:latin typeface="Poppins"/>
              </a:defRPr>
            </a:pPr>
            <a:r>
              <a:t>Month 2–12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54203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000" b="0">
                <a:solidFill>
                  <a:srgbClr val="8E9298"/>
                </a:solidFill>
                <a:latin typeface="Poppins"/>
              </a:defRPr>
            </a:pPr>
            <a:r>
              <a:t>$0 recurring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3774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8E9298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1993392"/>
            <a:ext cx="2057400" cy="1097280"/>
          </a:xfrm>
          <a:prstGeom prst="roundRect">
            <a:avLst>
              <a:gd name="adj" fmla="val 6000"/>
            </a:avLst>
          </a:prstGeom>
          <a:solidFill>
            <a:srgbClr val="FBFAF7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2212848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150" b="1">
                <a:solidFill>
                  <a:srgbClr val="60656C"/>
                </a:solidFill>
                <a:latin typeface="Poppins"/>
              </a:defRPr>
            </a:pPr>
            <a:r>
              <a:t>Year 2+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54203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000" b="0">
                <a:solidFill>
                  <a:srgbClr val="8E9298"/>
                </a:solidFill>
                <a:latin typeface="Poppins"/>
              </a:defRPr>
            </a:pPr>
            <a:r>
              <a:t>Beg user to buy Gen-2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703320"/>
            <a:ext cx="10543032" cy="2377440"/>
          </a:xfrm>
          <a:prstGeom prst="roundRect">
            <a:avLst>
              <a:gd name="adj" fmla="val 4000"/>
            </a:avLst>
          </a:prstGeom>
          <a:solidFill>
            <a:srgbClr val="FBFAF7"/>
          </a:solidFill>
          <a:ln w="19050">
            <a:solidFill>
              <a:srgbClr val="587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3950208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1">
                <a:solidFill>
                  <a:srgbClr val="58725C"/>
                </a:solidFill>
                <a:latin typeface="Poppins"/>
              </a:defRPr>
            </a:pPr>
            <a:r>
              <a:t>THE BANRAI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20624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900" b="1">
                <a:solidFill>
                  <a:srgbClr val="23262A"/>
                </a:solidFill>
                <a:latin typeface="Poppins"/>
              </a:defRPr>
            </a:pPr>
            <a:r>
              <a:t>100% Hard-Subscription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66344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050" b="0">
                <a:solidFill>
                  <a:srgbClr val="60656C"/>
                </a:solidFill>
                <a:latin typeface="Poppins"/>
              </a:defRPr>
            </a:pPr>
            <a:r>
              <a:t>Real AI costs tokens—so there is no free tier. Hardware unlocks high-margin, SaaS-style recurring revenue.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977639"/>
            <a:ext cx="2057400" cy="1828800"/>
          </a:xfrm>
          <a:prstGeom prst="roundRect">
            <a:avLst>
              <a:gd name="adj" fmla="val 6000"/>
            </a:avLst>
          </a:prstGeom>
          <a:solidFill>
            <a:srgbClr val="E1E8E0"/>
          </a:solidFill>
          <a:ln w="15875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4187952"/>
            <a:ext cx="1783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00" b="1">
                <a:solidFill>
                  <a:srgbClr val="60656C"/>
                </a:solidFill>
                <a:latin typeface="Poppins"/>
              </a:defRPr>
            </a:pPr>
            <a:r>
              <a:t>01 · UNBOX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462272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200" b="1">
                <a:solidFill>
                  <a:srgbClr val="23262A"/>
                </a:solidFill>
                <a:latin typeface="Poppins"/>
              </a:defRPr>
            </a:pPr>
            <a:r>
              <a:t>Hardware + Free Months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956048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0">
                <a:solidFill>
                  <a:srgbClr val="60656C"/>
                </a:solidFill>
                <a:latin typeface="Poppins"/>
              </a:defRPr>
            </a:pPr>
            <a:r>
              <a:t>Ships with bundled trial months for instant magic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7091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58725C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3977639"/>
            <a:ext cx="2057400" cy="1828800"/>
          </a:xfrm>
          <a:prstGeom prst="roundRect">
            <a:avLst>
              <a:gd name="adj" fmla="val 6000"/>
            </a:avLst>
          </a:prstGeom>
          <a:solidFill>
            <a:srgbClr val="CAFB5B"/>
          </a:solidFill>
          <a:ln w="15875">
            <a:solidFill>
              <a:srgbClr val="9C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4187952"/>
            <a:ext cx="1783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00" b="1">
                <a:solidFill>
                  <a:srgbClr val="60656C"/>
                </a:solidFill>
                <a:latin typeface="Poppins"/>
              </a:defRPr>
            </a:pPr>
            <a:r>
              <a:t>02 · SUBSCRIBE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462272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200" b="1">
                <a:solidFill>
                  <a:srgbClr val="23262A"/>
                </a:solidFill>
                <a:latin typeface="Poppins"/>
              </a:defRPr>
            </a:pPr>
            <a:r>
              <a:t>Mandatory Monthly Fee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956048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0">
                <a:solidFill>
                  <a:srgbClr val="60656C"/>
                </a:solidFill>
                <a:latin typeface="Poppins"/>
              </a:defRPr>
            </a:pPr>
            <a:r>
              <a:t>Hard subscription keeps the AI companion alive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47091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58725C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5400" y="3977639"/>
            <a:ext cx="2057400" cy="1828800"/>
          </a:xfrm>
          <a:prstGeom prst="roundRect">
            <a:avLst>
              <a:gd name="adj" fmla="val 6000"/>
            </a:avLst>
          </a:prstGeom>
          <a:solidFill>
            <a:srgbClr val="E1E8E0"/>
          </a:solidFill>
          <a:ln w="15875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4187952"/>
            <a:ext cx="1783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00" b="1">
                <a:solidFill>
                  <a:srgbClr val="60656C"/>
                </a:solidFill>
                <a:latin typeface="Poppins"/>
              </a:defRPr>
            </a:pPr>
            <a:r>
              <a:t>03 · COMPOUND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462272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200" b="1">
                <a:solidFill>
                  <a:srgbClr val="23262A"/>
                </a:solidFill>
                <a:latin typeface="Poppins"/>
              </a:defRPr>
            </a:pPr>
            <a:r>
              <a:t>Continuous SaaS Value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4956048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0">
                <a:solidFill>
                  <a:srgbClr val="60656C"/>
                </a:solidFill>
                <a:latin typeface="Poppins"/>
              </a:defRPr>
            </a:pPr>
            <a:r>
              <a:t>Cloud updates stories &amp; memory—growing LTV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1">
                <a:solidFill>
                  <a:srgbClr val="58725C"/>
                </a:solidFill>
                <a:latin typeface="Poppins"/>
              </a:defRPr>
            </a:pPr>
            <a:r>
              <a:t>03 · UNFAIR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1400" b="1">
                <a:solidFill>
                  <a:srgbClr val="23262A"/>
                </a:solidFill>
                <a:latin typeface="Poppins"/>
              </a:defRPr>
            </a:pPr>
            <a:r>
              <a:t>Banrai</a:t>
            </a:r>
          </a:p>
        </p:txBody>
      </p:sp>
      <p:sp>
        <p:nvSpPr>
          <p:cNvPr id="4" name="Oval 3"/>
          <p:cNvSpPr/>
          <p:nvPr/>
        </p:nvSpPr>
        <p:spPr>
          <a:xfrm>
            <a:off x="11247120" y="557784"/>
            <a:ext cx="82296" cy="82296"/>
          </a:xfrm>
          <a:prstGeom prst="ellipse">
            <a:avLst/>
          </a:prstGeom>
          <a:solidFill>
            <a:srgbClr val="CAFB5B"/>
          </a:solidFill>
          <a:ln w="9525">
            <a:solidFill>
              <a:srgbClr val="9C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6309360"/>
            <a:ext cx="1051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900" b="0">
                <a:solidFill>
                  <a:srgbClr val="8E9298"/>
                </a:solidFill>
                <a:latin typeface="Poppins"/>
              </a:defRPr>
            </a:pPr>
            <a:r>
              <a:t>04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9601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defRPr sz="2800" b="1">
                <a:solidFill>
                  <a:srgbClr val="23262A"/>
                </a:solidFill>
                <a:latin typeface="Poppins"/>
              </a:defRPr>
            </a:pPr>
            <a:r>
              <a:t>One Shared Backend Powers Dozens of Hardware Products.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6172200" cy="4526280"/>
          </a:xfrm>
          <a:prstGeom prst="roundRect">
            <a:avLst>
              <a:gd name="adj" fmla="val 3000"/>
            </a:avLst>
          </a:prstGeom>
          <a:solidFill>
            <a:srgbClr val="FBFAF7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10512"/>
            <a:ext cx="5623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1">
                <a:solidFill>
                  <a:srgbClr val="58725C"/>
                </a:solidFill>
                <a:latin typeface="Poppins"/>
              </a:defRPr>
            </a:pPr>
            <a:r>
              <a:t>REUSABLE PLATFORM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2423160"/>
            <a:ext cx="2240280" cy="3154680"/>
          </a:xfrm>
          <a:prstGeom prst="roundRect">
            <a:avLst>
              <a:gd name="adj" fmla="val 5000"/>
            </a:avLst>
          </a:prstGeom>
          <a:solidFill>
            <a:srgbClr val="E1E8E0"/>
          </a:solidFill>
          <a:ln w="19050">
            <a:solidFill>
              <a:srgbClr val="587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65176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00" b="1">
                <a:solidFill>
                  <a:srgbClr val="58725C"/>
                </a:solidFill>
                <a:latin typeface="Poppins"/>
              </a:defRPr>
            </a:pPr>
            <a:r>
              <a:t>SHARED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926080"/>
            <a:ext cx="1965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500" b="1">
                <a:solidFill>
                  <a:srgbClr val="23262A"/>
                </a:solidFill>
                <a:latin typeface="Poppins"/>
              </a:defRPr>
            </a:pPr>
            <a:r>
              <a:t>1 Unified AI +</a:t>
            </a:r>
          </a:p>
          <a:p>
            <a:pPr algn="ctr">
              <a:lnSpc>
                <a:spcPct val="120000"/>
              </a:lnSpc>
              <a:defRPr sz="1500" b="1">
                <a:solidFill>
                  <a:srgbClr val="23262A"/>
                </a:solidFill>
                <a:latin typeface="Poppins"/>
              </a:defRPr>
            </a:pPr>
            <a:r>
              <a:t>Billing 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98448" y="3749039"/>
            <a:ext cx="1929384" cy="402336"/>
          </a:xfrm>
          <a:prstGeom prst="roundRect">
            <a:avLst>
              <a:gd name="adj" fmla="val 8000"/>
            </a:avLst>
          </a:prstGeom>
          <a:solidFill>
            <a:srgbClr val="FBFAF7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3840479"/>
            <a:ext cx="18196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1">
                <a:solidFill>
                  <a:srgbClr val="60656C"/>
                </a:solidFill>
                <a:latin typeface="Poppins"/>
              </a:defRPr>
            </a:pPr>
            <a:r>
              <a:t>Conversational Voice 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98448" y="4279392"/>
            <a:ext cx="1929384" cy="402336"/>
          </a:xfrm>
          <a:prstGeom prst="roundRect">
            <a:avLst>
              <a:gd name="adj" fmla="val 8000"/>
            </a:avLst>
          </a:prstGeom>
          <a:solidFill>
            <a:srgbClr val="FBFAF7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4370831"/>
            <a:ext cx="18196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1">
                <a:solidFill>
                  <a:srgbClr val="60656C"/>
                </a:solidFill>
                <a:latin typeface="Poppins"/>
              </a:defRPr>
            </a:pPr>
            <a:r>
              <a:t>Image &amp; Story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98448" y="4809744"/>
            <a:ext cx="1929384" cy="402336"/>
          </a:xfrm>
          <a:prstGeom prst="roundRect">
            <a:avLst>
              <a:gd name="adj" fmla="val 8000"/>
            </a:avLst>
          </a:prstGeom>
          <a:solidFill>
            <a:srgbClr val="FBFAF7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53312" y="4901183"/>
            <a:ext cx="18196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1">
                <a:solidFill>
                  <a:srgbClr val="60656C"/>
                </a:solidFill>
                <a:latin typeface="Poppins"/>
              </a:defRPr>
            </a:pPr>
            <a:r>
              <a:t>Subscription &amp; Metering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459736"/>
            <a:ext cx="594360" cy="18288"/>
          </a:xfrm>
          <a:prstGeom prst="rect">
            <a:avLst/>
          </a:prstGeom>
          <a:solidFill>
            <a:srgbClr val="587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977639" y="2240280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ECE9E1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2359152"/>
            <a:ext cx="1783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23262A"/>
                </a:solidFill>
                <a:latin typeface="Poppins"/>
              </a:defRPr>
            </a:pPr>
            <a:r>
              <a:t>01 · Living Photo Frame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368296"/>
            <a:ext cx="804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850" b="0">
                <a:solidFill>
                  <a:srgbClr val="60656C"/>
                </a:solidFill>
                <a:latin typeface="Poppins"/>
              </a:defRPr>
            </a:pPr>
            <a:r>
              <a:t>Dec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054096"/>
            <a:ext cx="594360" cy="18288"/>
          </a:xfrm>
          <a:prstGeom prst="rect">
            <a:avLst/>
          </a:prstGeom>
          <a:solidFill>
            <a:srgbClr val="587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977639" y="2834640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ECE9E1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2953512"/>
            <a:ext cx="1783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23262A"/>
                </a:solidFill>
                <a:latin typeface="Poppins"/>
              </a:defRPr>
            </a:pPr>
            <a:r>
              <a:t>02 · Pocket Interactive Bible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962656"/>
            <a:ext cx="804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850" b="0">
                <a:solidFill>
                  <a:srgbClr val="60656C"/>
                </a:solidFill>
                <a:latin typeface="Poppins"/>
              </a:defRPr>
            </a:pPr>
            <a:r>
              <a:t>Dec 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3648456"/>
            <a:ext cx="594360" cy="18288"/>
          </a:xfrm>
          <a:prstGeom prst="rect">
            <a:avLst/>
          </a:prstGeom>
          <a:solidFill>
            <a:srgbClr val="587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977639" y="3429000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ECE9E1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0" y="3547872"/>
            <a:ext cx="1783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23262A"/>
                </a:solidFill>
                <a:latin typeface="Poppins"/>
              </a:defRPr>
            </a:pPr>
            <a:r>
              <a:t>03 · Dream Printer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3557016"/>
            <a:ext cx="804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850" b="0">
                <a:solidFill>
                  <a:srgbClr val="60656C"/>
                </a:solidFill>
                <a:latin typeface="Poppins"/>
              </a:defRPr>
            </a:pPr>
            <a:r>
              <a:t>H1 2027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4242816"/>
            <a:ext cx="594360" cy="18288"/>
          </a:xfrm>
          <a:prstGeom prst="rect">
            <a:avLst/>
          </a:prstGeom>
          <a:solidFill>
            <a:srgbClr val="587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977639" y="4023360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ECE9E1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0" y="4142232"/>
            <a:ext cx="1783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23262A"/>
                </a:solidFill>
                <a:latin typeface="Poppins"/>
              </a:defRPr>
            </a:pPr>
            <a:r>
              <a:t>04 · Voice Walkie-Talkie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4151376"/>
            <a:ext cx="804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850" b="0">
                <a:solidFill>
                  <a:srgbClr val="60656C"/>
                </a:solidFill>
                <a:latin typeface="Poppins"/>
              </a:defRPr>
            </a:pPr>
            <a:r>
              <a:t>H1 2027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4837176"/>
            <a:ext cx="594360" cy="18288"/>
          </a:xfrm>
          <a:prstGeom prst="rect">
            <a:avLst/>
          </a:prstGeom>
          <a:solidFill>
            <a:srgbClr val="587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977639" y="4617720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ECE9E1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0" y="4736592"/>
            <a:ext cx="1783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23262A"/>
                </a:solidFill>
                <a:latin typeface="Poppins"/>
              </a:defRPr>
            </a:pPr>
            <a:r>
              <a:t>05 · Kids’ E-Ink Doodle Pad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4745736"/>
            <a:ext cx="804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850" b="0">
                <a:solidFill>
                  <a:srgbClr val="60656C"/>
                </a:solidFill>
                <a:latin typeface="Poppins"/>
              </a:defRPr>
            </a:pPr>
            <a:r>
              <a:t>H1 2027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5431536"/>
            <a:ext cx="594360" cy="18288"/>
          </a:xfrm>
          <a:prstGeom prst="rect">
            <a:avLst/>
          </a:prstGeom>
          <a:solidFill>
            <a:srgbClr val="587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977639" y="5212080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E0E7EC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0" y="5330952"/>
            <a:ext cx="1783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23262A"/>
                </a:solidFill>
                <a:latin typeface="Poppins"/>
              </a:defRPr>
            </a:pPr>
            <a:r>
              <a:t>06–10+ · New Launches / Yr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0" y="5340096"/>
            <a:ext cx="804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850" b="0">
                <a:solidFill>
                  <a:srgbClr val="60656C"/>
                </a:solidFill>
                <a:latin typeface="Poppins"/>
              </a:defRPr>
            </a:pPr>
            <a:r>
              <a:t>Ongoing Pipeline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23760" y="1600200"/>
            <a:ext cx="4142232" cy="4526280"/>
          </a:xfrm>
          <a:prstGeom prst="roundRect">
            <a:avLst>
              <a:gd name="adj" fmla="val 3000"/>
            </a:avLst>
          </a:prstGeom>
          <a:solidFill>
            <a:srgbClr val="FBFAF7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79" y="1810512"/>
            <a:ext cx="3611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1">
                <a:solidFill>
                  <a:srgbClr val="8E9298"/>
                </a:solidFill>
                <a:latin typeface="Poppins"/>
              </a:defRPr>
            </a:pPr>
            <a:r>
              <a:t>ECONOMICS PER HARDWARE LINE (US MARKET)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2194560"/>
            <a:ext cx="3611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100" b="1">
                <a:solidFill>
                  <a:srgbClr val="23262A"/>
                </a:solidFill>
                <a:latin typeface="Poppins"/>
              </a:defRPr>
            </a:pPr>
            <a:r>
              <a:t>Time to Market (First 1,000 Units)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98079" y="2505456"/>
            <a:ext cx="3520440" cy="310896"/>
          </a:xfrm>
          <a:prstGeom prst="roundRect">
            <a:avLst>
              <a:gd name="adj" fmla="val 10000"/>
            </a:avLst>
          </a:prstGeom>
          <a:solidFill>
            <a:srgbClr val="ECE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07808" y="2560320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0">
                <a:solidFill>
                  <a:srgbClr val="60656C"/>
                </a:solidFill>
                <a:latin typeface="Poppins"/>
              </a:defRPr>
            </a:pPr>
            <a:r>
              <a:t>Traditional Hardware:  18 – 24+ Months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79" y="2889504"/>
            <a:ext cx="1691640" cy="329184"/>
          </a:xfrm>
          <a:prstGeom prst="roundRect">
            <a:avLst>
              <a:gd name="adj" fmla="val 10000"/>
            </a:avLst>
          </a:prstGeom>
          <a:solidFill>
            <a:srgbClr val="E1E8E0"/>
          </a:solidFill>
          <a:ln w="12700">
            <a:solidFill>
              <a:srgbClr val="587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7808" y="2944368"/>
            <a:ext cx="1508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23262A"/>
                </a:solidFill>
                <a:latin typeface="Poppins"/>
              </a:defRPr>
            </a:pPr>
            <a:r>
              <a:t>Banrai: &lt; 9 Mos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3456432"/>
            <a:ext cx="3611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100" b="1">
                <a:solidFill>
                  <a:srgbClr val="23262A"/>
                </a:solidFill>
                <a:latin typeface="Poppins"/>
              </a:defRPr>
            </a:pPr>
            <a:r>
              <a:t>All-In Launch Cost (R&amp;D + First 1,000 Units)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98079" y="3767328"/>
            <a:ext cx="3520440" cy="310896"/>
          </a:xfrm>
          <a:prstGeom prst="roundRect">
            <a:avLst>
              <a:gd name="adj" fmla="val 10000"/>
            </a:avLst>
          </a:prstGeom>
          <a:solidFill>
            <a:srgbClr val="ECE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07808" y="3822191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0">
                <a:solidFill>
                  <a:srgbClr val="60656C"/>
                </a:solidFill>
                <a:latin typeface="Poppins"/>
              </a:defRPr>
            </a:pPr>
            <a:r>
              <a:t>Traditional Hardware:  $3M – $10M+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98079" y="4151376"/>
            <a:ext cx="2148840" cy="365760"/>
          </a:xfrm>
          <a:prstGeom prst="roundRect">
            <a:avLst>
              <a:gd name="adj" fmla="val 10000"/>
            </a:avLst>
          </a:prstGeom>
          <a:solidFill>
            <a:srgbClr val="CAFB5B"/>
          </a:solidFill>
          <a:ln w="19050">
            <a:solidFill>
              <a:srgbClr val="9C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07808" y="4215384"/>
            <a:ext cx="1965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050" b="1">
                <a:solidFill>
                  <a:srgbClr val="23262A"/>
                </a:solidFill>
                <a:latin typeface="Poppins"/>
              </a:defRPr>
            </a:pPr>
            <a:r>
              <a:t>Banrai: $150K – $200K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79" y="4754880"/>
            <a:ext cx="3611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100" b="1">
                <a:solidFill>
                  <a:srgbClr val="23262A"/>
                </a:solidFill>
                <a:latin typeface="Poppins"/>
              </a:defRPr>
            </a:pPr>
            <a:r>
              <a:t>Unit Threshold for a Winner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498079" y="5065776"/>
            <a:ext cx="3520440" cy="777240"/>
          </a:xfrm>
          <a:prstGeom prst="roundRect">
            <a:avLst>
              <a:gd name="adj" fmla="val 6000"/>
            </a:avLst>
          </a:prstGeom>
          <a:solidFill>
            <a:srgbClr val="ECE9E1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62672" y="519379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 b="1">
                <a:solidFill>
                  <a:srgbClr val="23262A"/>
                </a:solidFill>
                <a:latin typeface="Poppins"/>
              </a:defRPr>
            </a:pPr>
            <a:r>
              <a:t>Single-Product Co: Must sell 10M+ units</a:t>
            </a:r>
          </a:p>
          <a:p>
            <a:pPr algn="l">
              <a:lnSpc>
                <a:spcPct val="135000"/>
              </a:lnSpc>
              <a:defRPr sz="1050" b="1">
                <a:solidFill>
                  <a:srgbClr val="23262A"/>
                </a:solidFill>
                <a:latin typeface="Poppins"/>
              </a:defRPr>
            </a:pPr>
            <a:r>
              <a:t>Banrai Portfolio: Profitable hit at 100K+ units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1">
                <a:solidFill>
                  <a:srgbClr val="58725C"/>
                </a:solidFill>
                <a:latin typeface="Poppins"/>
              </a:defRPr>
            </a:pPr>
            <a:r>
              <a:t>04 · PRODUCT ROADMAP (US MARKET EXCLUSIVELY)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1400" b="1">
                <a:solidFill>
                  <a:srgbClr val="23262A"/>
                </a:solidFill>
                <a:latin typeface="Poppins"/>
              </a:defRPr>
            </a:pPr>
            <a:r>
              <a:t>Banrai</a:t>
            </a:r>
          </a:p>
        </p:txBody>
      </p:sp>
      <p:sp>
        <p:nvSpPr>
          <p:cNvPr id="4" name="Oval 3"/>
          <p:cNvSpPr/>
          <p:nvPr/>
        </p:nvSpPr>
        <p:spPr>
          <a:xfrm>
            <a:off x="11247120" y="557784"/>
            <a:ext cx="82296" cy="82296"/>
          </a:xfrm>
          <a:prstGeom prst="ellipse">
            <a:avLst/>
          </a:prstGeom>
          <a:solidFill>
            <a:srgbClr val="CAFB5B"/>
          </a:solidFill>
          <a:ln w="9525">
            <a:solidFill>
              <a:srgbClr val="9C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6309360"/>
            <a:ext cx="1051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900" b="0">
                <a:solidFill>
                  <a:srgbClr val="8E9298"/>
                </a:solidFill>
                <a:latin typeface="Poppins"/>
              </a:defRPr>
            </a:pPr>
            <a:r>
              <a:t>05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9601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defRPr sz="2800" b="1">
                <a:solidFill>
                  <a:srgbClr val="23262A"/>
                </a:solidFill>
                <a:latin typeface="Poppins"/>
              </a:defRPr>
            </a:pPr>
            <a:r>
              <a:t>5 Products in Motion. 6–10 New Launches Every Year.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4069080" cy="384048"/>
          </a:xfrm>
          <a:prstGeom prst="roundRect">
            <a:avLst>
              <a:gd name="adj" fmla="val 8000"/>
            </a:avLst>
          </a:prstGeom>
          <a:solidFill>
            <a:srgbClr val="CAFB5B"/>
          </a:solidFill>
          <a:ln w="12700">
            <a:solidFill>
              <a:srgbClr val="9C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82496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1">
                <a:solidFill>
                  <a:srgbClr val="23262A"/>
                </a:solidFill>
                <a:latin typeface="Poppins"/>
              </a:defRPr>
            </a:pPr>
            <a:r>
              <a:t>WAVE 1 · DEC 2026 (1,000 US UNITS EACH · ON BUDGET)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600200"/>
            <a:ext cx="6291072" cy="384048"/>
          </a:xfrm>
          <a:prstGeom prst="roundRect">
            <a:avLst>
              <a:gd name="adj" fmla="val 8000"/>
            </a:avLst>
          </a:prstGeom>
          <a:solidFill>
            <a:srgbClr val="E1E8E0"/>
          </a:solidFill>
          <a:ln w="12700">
            <a:solidFill>
              <a:srgbClr val="587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682496"/>
            <a:ext cx="60167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1">
                <a:solidFill>
                  <a:srgbClr val="23262A"/>
                </a:solidFill>
                <a:latin typeface="Poppins"/>
              </a:defRPr>
            </a:pPr>
            <a:r>
              <a:t>WAVE 2 · H1 2027 (CURRENTLY IN PROTOTYPING)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121408"/>
            <a:ext cx="1993392" cy="3154680"/>
          </a:xfrm>
          <a:prstGeom prst="roundRect">
            <a:avLst>
              <a:gd name="adj" fmla="val 4000"/>
            </a:avLst>
          </a:prstGeom>
          <a:solidFill>
            <a:srgbClr val="FBFAF7"/>
          </a:solidFill>
          <a:ln w="15875">
            <a:solidFill>
              <a:srgbClr val="9C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9264" y="2267712"/>
            <a:ext cx="1700784" cy="1234440"/>
          </a:xfrm>
          <a:prstGeom prst="roundRect">
            <a:avLst>
              <a:gd name="adj" fmla="val 6000"/>
            </a:avLst>
          </a:prstGeom>
          <a:solidFill>
            <a:srgbClr val="ECE9E1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272491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0">
                <a:solidFill>
                  <a:srgbClr val="8E9298"/>
                </a:solidFill>
                <a:latin typeface="Poppins"/>
              </a:defRPr>
            </a:pPr>
            <a:r>
              <a:t>[ Photo 01 ]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639312"/>
            <a:ext cx="16642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850" b="1">
                <a:solidFill>
                  <a:srgbClr val="58725C"/>
                </a:solidFill>
                <a:latin typeface="Poppins"/>
              </a:defRPr>
            </a:pPr>
            <a:r>
              <a:t>DEC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58768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1">
                <a:solidFill>
                  <a:srgbClr val="23262A"/>
                </a:solidFill>
                <a:latin typeface="Poppins"/>
              </a:defRPr>
            </a:pPr>
            <a:r>
              <a:t>Magical Living</a:t>
            </a:r>
          </a:p>
          <a:p>
            <a:pPr algn="l">
              <a:lnSpc>
                <a:spcPct val="115000"/>
              </a:lnSpc>
              <a:defRPr sz="1300" b="1">
                <a:solidFill>
                  <a:srgbClr val="23262A"/>
                </a:solidFill>
                <a:latin typeface="Poppins"/>
              </a:defRPr>
            </a:pPr>
            <a:r>
              <a:t>Photo Frame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480560"/>
            <a:ext cx="166420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950" b="0">
                <a:solidFill>
                  <a:srgbClr val="60656C"/>
                </a:solidFill>
                <a:latin typeface="Poppins"/>
              </a:defRPr>
            </a:pPr>
            <a:r>
              <a:t>Portraits wave hello &amp; react to live local weather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62656" y="2121408"/>
            <a:ext cx="1993392" cy="3154680"/>
          </a:xfrm>
          <a:prstGeom prst="roundRect">
            <a:avLst>
              <a:gd name="adj" fmla="val 4000"/>
            </a:avLst>
          </a:prstGeom>
          <a:solidFill>
            <a:srgbClr val="FBFAF7"/>
          </a:solidFill>
          <a:ln w="15875">
            <a:solidFill>
              <a:srgbClr val="9C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08960" y="2267712"/>
            <a:ext cx="1700784" cy="1234440"/>
          </a:xfrm>
          <a:prstGeom prst="roundRect">
            <a:avLst>
              <a:gd name="adj" fmla="val 6000"/>
            </a:avLst>
          </a:prstGeom>
          <a:solidFill>
            <a:srgbClr val="ECE9E1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82111" y="272491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0">
                <a:solidFill>
                  <a:srgbClr val="8E9298"/>
                </a:solidFill>
                <a:latin typeface="Poppins"/>
              </a:defRPr>
            </a:pPr>
            <a:r>
              <a:t>[ Photo 02 ]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7248" y="3639312"/>
            <a:ext cx="16642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850" b="1">
                <a:solidFill>
                  <a:srgbClr val="58725C"/>
                </a:solidFill>
                <a:latin typeface="Poppins"/>
              </a:defRPr>
            </a:pPr>
            <a:r>
              <a:t>DEC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7248" y="3858768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1">
                <a:solidFill>
                  <a:srgbClr val="23262A"/>
                </a:solidFill>
                <a:latin typeface="Poppins"/>
              </a:defRPr>
            </a:pPr>
            <a:r>
              <a:t>Pocket Interactive</a:t>
            </a:r>
          </a:p>
          <a:p>
            <a:pPr algn="l">
              <a:lnSpc>
                <a:spcPct val="115000"/>
              </a:lnSpc>
              <a:defRPr sz="1300" b="1">
                <a:solidFill>
                  <a:srgbClr val="23262A"/>
                </a:solidFill>
                <a:latin typeface="Poppins"/>
              </a:defRPr>
            </a:pPr>
            <a:r>
              <a:t>Bible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27248" y="4480560"/>
            <a:ext cx="166420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950" b="0">
                <a:solidFill>
                  <a:srgbClr val="60656C"/>
                </a:solidFill>
                <a:latin typeface="Poppins"/>
              </a:defRPr>
            </a:pPr>
            <a:r>
              <a:t>Standalone E-Ink + 4G daily Christian companion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02352" y="2121408"/>
            <a:ext cx="1993392" cy="3154680"/>
          </a:xfrm>
          <a:prstGeom prst="roundRect">
            <a:avLst>
              <a:gd name="adj" fmla="val 4000"/>
            </a:avLst>
          </a:prstGeom>
          <a:solidFill>
            <a:srgbClr val="FBFAF7"/>
          </a:solidFill>
          <a:ln w="15875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48656" y="2267712"/>
            <a:ext cx="1700784" cy="1234440"/>
          </a:xfrm>
          <a:prstGeom prst="roundRect">
            <a:avLst>
              <a:gd name="adj" fmla="val 6000"/>
            </a:avLst>
          </a:prstGeom>
          <a:solidFill>
            <a:srgbClr val="ECE9E1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21808" y="272491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0">
                <a:solidFill>
                  <a:srgbClr val="8E9298"/>
                </a:solidFill>
                <a:latin typeface="Poppins"/>
              </a:defRPr>
            </a:pPr>
            <a:r>
              <a:t>[ Photo 03 ]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66944" y="3639312"/>
            <a:ext cx="16642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850" b="1">
                <a:solidFill>
                  <a:srgbClr val="58725C"/>
                </a:solidFill>
                <a:latin typeface="Poppins"/>
              </a:defRPr>
            </a:pPr>
            <a:r>
              <a:t>H1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66944" y="3858768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1">
                <a:solidFill>
                  <a:srgbClr val="23262A"/>
                </a:solidFill>
                <a:latin typeface="Poppins"/>
              </a:defRPr>
            </a:pPr>
            <a:r>
              <a:t>Dream</a:t>
            </a:r>
          </a:p>
          <a:p>
            <a:pPr algn="l">
              <a:lnSpc>
                <a:spcPct val="115000"/>
              </a:lnSpc>
              <a:defRPr sz="1300" b="1">
                <a:solidFill>
                  <a:srgbClr val="23262A"/>
                </a:solidFill>
                <a:latin typeface="Poppins"/>
              </a:defRPr>
            </a:pPr>
            <a:r>
              <a:t>Printer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66944" y="4480560"/>
            <a:ext cx="166420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950" b="0">
                <a:solidFill>
                  <a:srgbClr val="60656C"/>
                </a:solidFill>
                <a:latin typeface="Poppins"/>
              </a:defRPr>
            </a:pPr>
            <a:r>
              <a:t>One-button morning dream art &amp; connected diary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42048" y="2121408"/>
            <a:ext cx="1993392" cy="3154680"/>
          </a:xfrm>
          <a:prstGeom prst="roundRect">
            <a:avLst>
              <a:gd name="adj" fmla="val 4000"/>
            </a:avLst>
          </a:prstGeom>
          <a:solidFill>
            <a:srgbClr val="FBFAF7"/>
          </a:solidFill>
          <a:ln w="15875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88352" y="2267712"/>
            <a:ext cx="1700784" cy="1234440"/>
          </a:xfrm>
          <a:prstGeom prst="roundRect">
            <a:avLst>
              <a:gd name="adj" fmla="val 6000"/>
            </a:avLst>
          </a:prstGeom>
          <a:solidFill>
            <a:srgbClr val="ECE9E1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61504" y="272491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0">
                <a:solidFill>
                  <a:srgbClr val="8E9298"/>
                </a:solidFill>
                <a:latin typeface="Poppins"/>
              </a:defRPr>
            </a:pPr>
            <a:r>
              <a:t>[ Photo 04 ]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639312"/>
            <a:ext cx="16642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850" b="1">
                <a:solidFill>
                  <a:srgbClr val="58725C"/>
                </a:solidFill>
                <a:latin typeface="Poppins"/>
              </a:defRPr>
            </a:pPr>
            <a:r>
              <a:t>H1 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858768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1">
                <a:solidFill>
                  <a:srgbClr val="23262A"/>
                </a:solidFill>
                <a:latin typeface="Poppins"/>
              </a:defRPr>
            </a:pPr>
            <a:r>
              <a:t>Voice Gaming</a:t>
            </a:r>
          </a:p>
          <a:p>
            <a:pPr algn="l">
              <a:lnSpc>
                <a:spcPct val="115000"/>
              </a:lnSpc>
              <a:defRPr sz="1300" b="1">
                <a:solidFill>
                  <a:srgbClr val="23262A"/>
                </a:solidFill>
                <a:latin typeface="Poppins"/>
              </a:defRPr>
            </a:pPr>
            <a:r>
              <a:t>Walkie-Talkie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4480560"/>
            <a:ext cx="166420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950" b="0">
                <a:solidFill>
                  <a:srgbClr val="60656C"/>
                </a:solidFill>
                <a:latin typeface="Poppins"/>
              </a:defRPr>
            </a:pPr>
            <a:r>
              <a:t>Co-op voice rescue with a stranded character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81744" y="2121408"/>
            <a:ext cx="1993392" cy="3154680"/>
          </a:xfrm>
          <a:prstGeom prst="roundRect">
            <a:avLst>
              <a:gd name="adj" fmla="val 4000"/>
            </a:avLst>
          </a:prstGeom>
          <a:solidFill>
            <a:srgbClr val="FBFAF7"/>
          </a:solidFill>
          <a:ln w="15875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528048" y="2267712"/>
            <a:ext cx="1700784" cy="1234440"/>
          </a:xfrm>
          <a:prstGeom prst="roundRect">
            <a:avLst>
              <a:gd name="adj" fmla="val 6000"/>
            </a:avLst>
          </a:prstGeom>
          <a:solidFill>
            <a:srgbClr val="ECE9E1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0" y="272491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0">
                <a:solidFill>
                  <a:srgbClr val="8E9298"/>
                </a:solidFill>
                <a:latin typeface="Poppins"/>
              </a:defRPr>
            </a:pPr>
            <a:r>
              <a:t>[ Photo 05 ]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6336" y="3639312"/>
            <a:ext cx="16642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850" b="1">
                <a:solidFill>
                  <a:srgbClr val="58725C"/>
                </a:solidFill>
                <a:latin typeface="Poppins"/>
              </a:defRPr>
            </a:pPr>
            <a:r>
              <a:t>H1 2027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46336" y="3858768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1">
                <a:solidFill>
                  <a:srgbClr val="23262A"/>
                </a:solidFill>
                <a:latin typeface="Poppins"/>
              </a:defRPr>
            </a:pPr>
            <a:r>
              <a:t>Kids’ E-Ink</a:t>
            </a:r>
          </a:p>
          <a:p>
            <a:pPr algn="l">
              <a:lnSpc>
                <a:spcPct val="115000"/>
              </a:lnSpc>
              <a:defRPr sz="1300" b="1">
                <a:solidFill>
                  <a:srgbClr val="23262A"/>
                </a:solidFill>
                <a:latin typeface="Poppins"/>
              </a:defRPr>
            </a:pPr>
            <a:r>
              <a:t>Doodle Pad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46336" y="4480560"/>
            <a:ext cx="166420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950" b="0">
                <a:solidFill>
                  <a:srgbClr val="60656C"/>
                </a:solidFill>
                <a:latin typeface="Poppins"/>
              </a:defRPr>
            </a:pPr>
            <a:r>
              <a:t>Turns children’s sketches into interactive comics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5440680"/>
            <a:ext cx="10543032" cy="658368"/>
          </a:xfrm>
          <a:prstGeom prst="roundRect">
            <a:avLst>
              <a:gd name="adj" fmla="val 5000"/>
            </a:avLst>
          </a:prstGeom>
          <a:solidFill>
            <a:srgbClr val="ECE9E1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650992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150" b="1">
                <a:solidFill>
                  <a:srgbClr val="23262A"/>
                </a:solidFill>
                <a:latin typeface="Poppins"/>
              </a:defRPr>
            </a:pPr>
            <a:r>
              <a:t>Deep Backlog:  Launching 6–10 new Fun AI hardware products every year.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5660136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1050" b="1">
                <a:solidFill>
                  <a:srgbClr val="58725C"/>
                </a:solidFill>
                <a:latin typeface="Poppins"/>
              </a:defRPr>
            </a:pPr>
            <a:r>
              <a:t>See Appendix (A1–A3) for full product visuals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1">
                <a:solidFill>
                  <a:srgbClr val="58725C"/>
                </a:solidFill>
                <a:latin typeface="Poppins"/>
              </a:defRPr>
            </a:pPr>
            <a:r>
              <a:t>05 · DEFENSIBILITY &amp;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1400" b="1">
                <a:solidFill>
                  <a:srgbClr val="23262A"/>
                </a:solidFill>
                <a:latin typeface="Poppins"/>
              </a:defRPr>
            </a:pPr>
            <a:r>
              <a:t>Banrai</a:t>
            </a:r>
          </a:p>
        </p:txBody>
      </p:sp>
      <p:sp>
        <p:nvSpPr>
          <p:cNvPr id="4" name="Oval 3"/>
          <p:cNvSpPr/>
          <p:nvPr/>
        </p:nvSpPr>
        <p:spPr>
          <a:xfrm>
            <a:off x="11247120" y="557784"/>
            <a:ext cx="82296" cy="82296"/>
          </a:xfrm>
          <a:prstGeom prst="ellipse">
            <a:avLst/>
          </a:prstGeom>
          <a:solidFill>
            <a:srgbClr val="CAFB5B"/>
          </a:solidFill>
          <a:ln w="9525">
            <a:solidFill>
              <a:srgbClr val="9C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6309360"/>
            <a:ext cx="1051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900" b="0">
                <a:solidFill>
                  <a:srgbClr val="8E9298"/>
                </a:solidFill>
                <a:latin typeface="Poppins"/>
              </a:defRPr>
            </a:pPr>
            <a:r>
              <a:t>06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9601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defRPr sz="2800" b="1">
                <a:solidFill>
                  <a:srgbClr val="23262A"/>
                </a:solidFill>
                <a:latin typeface="Poppins"/>
              </a:defRPr>
            </a:pPr>
            <a:r>
              <a:t>Capturing the Data That Doesn’t Exist on the Internet.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5120640" cy="1143000"/>
          </a:xfrm>
          <a:prstGeom prst="roundRect">
            <a:avLst>
              <a:gd name="adj" fmla="val 4000"/>
            </a:avLst>
          </a:prstGeom>
          <a:solidFill>
            <a:srgbClr val="ECE9E1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8E9298"/>
                </a:solidFill>
                <a:latin typeface="Poppins"/>
              </a:defRPr>
            </a:pPr>
            <a:r>
              <a:t>PUBLIC INTERNET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29968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60656C"/>
                </a:solidFill>
                <a:latin typeface="Poppins"/>
              </a:defRPr>
            </a:pPr>
            <a:r>
              <a:t>Teaches AI how to work, code, and summarize.</a:t>
            </a:r>
          </a:p>
          <a:p>
            <a:pPr algn="l">
              <a:lnSpc>
                <a:spcPct val="120000"/>
              </a:lnSpc>
              <a:defRPr sz="1100" b="0">
                <a:solidFill>
                  <a:srgbClr val="60656C"/>
                </a:solidFill>
                <a:latin typeface="Poppins"/>
              </a:defRPr>
            </a:pPr>
            <a:r>
              <a:t>Every competitor scrapes the exact same web.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600200"/>
            <a:ext cx="5120640" cy="1143000"/>
          </a:xfrm>
          <a:prstGeom prst="roundRect">
            <a:avLst>
              <a:gd name="adj" fmla="val 4000"/>
            </a:avLst>
          </a:prstGeom>
          <a:solidFill>
            <a:srgbClr val="CAFB5B"/>
          </a:solidFill>
          <a:ln w="19050">
            <a:solidFill>
              <a:srgbClr val="9C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78308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23262A"/>
                </a:solidFill>
                <a:latin typeface="Poppins"/>
              </a:defRPr>
            </a:pPr>
            <a:r>
              <a:t>BANRAI PROPRIETARY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029968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100" b="1">
                <a:solidFill>
                  <a:srgbClr val="23262A"/>
                </a:solidFill>
                <a:latin typeface="Poppins"/>
              </a:defRPr>
            </a:pPr>
            <a:r>
              <a:t>Captures how humans play, laugh, and wonder.</a:t>
            </a:r>
          </a:p>
          <a:p>
            <a:pPr algn="l">
              <a:lnSpc>
                <a:spcPct val="120000"/>
              </a:lnSpc>
              <a:defRPr sz="1100" b="1">
                <a:solidFill>
                  <a:srgbClr val="23262A"/>
                </a:solidFill>
                <a:latin typeface="Poppins"/>
              </a:defRPr>
            </a:pPr>
            <a:r>
              <a:t>Zero public dataset exists—it must be earned live.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154680"/>
            <a:ext cx="2377440" cy="2240280"/>
          </a:xfrm>
          <a:prstGeom prst="roundRect">
            <a:avLst>
              <a:gd name="adj" fmla="val 5000"/>
            </a:avLst>
          </a:prstGeom>
          <a:solidFill>
            <a:srgbClr val="FBFAF7"/>
          </a:solidFill>
          <a:ln w="12700">
            <a:solidFill>
              <a:srgbClr val="A8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2900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1">
                <a:solidFill>
                  <a:srgbClr val="58725C"/>
                </a:solidFill>
                <a:latin typeface="Poppins"/>
              </a:defRPr>
            </a:pPr>
            <a:r>
              <a:t>01 · 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94760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500" b="1">
                <a:solidFill>
                  <a:srgbClr val="23262A"/>
                </a:solidFill>
                <a:latin typeface="Poppins"/>
              </a:defRPr>
            </a:pPr>
            <a:r>
              <a:t>6–10 Products / 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9768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050" b="0">
                <a:solidFill>
                  <a:srgbClr val="60656C"/>
                </a:solidFill>
                <a:latin typeface="Poppins"/>
              </a:defRPr>
            </a:pPr>
            <a:r>
              <a:t>Ambient devices across daily life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069080"/>
            <a:ext cx="347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800" b="1">
                <a:solidFill>
                  <a:srgbClr val="58725C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7872" y="3154680"/>
            <a:ext cx="2377440" cy="2240280"/>
          </a:xfrm>
          <a:prstGeom prst="roundRect">
            <a:avLst>
              <a:gd name="adj" fmla="val 5000"/>
            </a:avLst>
          </a:prstGeom>
          <a:solidFill>
            <a:srgbClr val="E1E8E0"/>
          </a:solidFill>
          <a:ln w="12700">
            <a:solidFill>
              <a:srgbClr val="A8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0752" y="342900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1">
                <a:solidFill>
                  <a:srgbClr val="58725C"/>
                </a:solidFill>
                <a:latin typeface="Poppins"/>
              </a:defRPr>
            </a:pPr>
            <a:r>
              <a:t>02 · SPARK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3794760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500" b="1">
                <a:solidFill>
                  <a:srgbClr val="23262A"/>
                </a:solidFill>
                <a:latin typeface="Poppins"/>
              </a:defRPr>
            </a:pPr>
            <a:r>
              <a:t>Spontaneous 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0752" y="429768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050" b="0">
                <a:solidFill>
                  <a:srgbClr val="60656C"/>
                </a:solidFill>
                <a:latin typeface="Poppins"/>
              </a:defRPr>
            </a:pPr>
            <a:r>
              <a:t>Users talk for joy, not chores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5312" y="4069080"/>
            <a:ext cx="347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800" b="1">
                <a:solidFill>
                  <a:srgbClr val="58725C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4" y="3154680"/>
            <a:ext cx="2377440" cy="2240280"/>
          </a:xfrm>
          <a:prstGeom prst="roundRect">
            <a:avLst>
              <a:gd name="adj" fmla="val 5000"/>
            </a:avLst>
          </a:prstGeom>
          <a:solidFill>
            <a:srgbClr val="FBFAF7"/>
          </a:solidFill>
          <a:ln w="12700">
            <a:solidFill>
              <a:srgbClr val="A8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342900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1">
                <a:solidFill>
                  <a:srgbClr val="58725C"/>
                </a:solidFill>
                <a:latin typeface="Poppins"/>
              </a:defRPr>
            </a:pPr>
            <a:r>
              <a:t>03 · COLLECT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3794760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500" b="1">
                <a:solidFill>
                  <a:srgbClr val="23262A"/>
                </a:solidFill>
                <a:latin typeface="Poppins"/>
              </a:defRPr>
            </a:pPr>
            <a:r>
              <a:t>Exclusive Joy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429768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050" b="0">
                <a:solidFill>
                  <a:srgbClr val="60656C"/>
                </a:solidFill>
                <a:latin typeface="Poppins"/>
              </a:defRPr>
            </a:pPr>
            <a:r>
              <a:t>Un-scrapable emotional signals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0224" y="4069080"/>
            <a:ext cx="347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800" b="1">
                <a:solidFill>
                  <a:srgbClr val="58725C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97696" y="3154680"/>
            <a:ext cx="2377440" cy="2240280"/>
          </a:xfrm>
          <a:prstGeom prst="roundRect">
            <a:avLst>
              <a:gd name="adj" fmla="val 5000"/>
            </a:avLst>
          </a:prstGeom>
          <a:solidFill>
            <a:srgbClr val="E1E8E0"/>
          </a:solidFill>
          <a:ln w="12700">
            <a:solidFill>
              <a:srgbClr val="A8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576" y="342900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1">
                <a:solidFill>
                  <a:srgbClr val="58725C"/>
                </a:solidFill>
                <a:latin typeface="Poppins"/>
              </a:defRPr>
            </a:pPr>
            <a:r>
              <a:t>04 · EVOLVE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3794760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500" b="1">
                <a:solidFill>
                  <a:srgbClr val="23262A"/>
                </a:solidFill>
                <a:latin typeface="Poppins"/>
              </a:defRPr>
            </a:pPr>
            <a:r>
              <a:t>Smarter “Fun AI”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429768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050" b="0">
                <a:solidFill>
                  <a:srgbClr val="60656C"/>
                </a:solidFill>
                <a:latin typeface="Poppins"/>
              </a:defRPr>
            </a:pPr>
            <a:r>
              <a:t>Compounds retention across all SKUs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45920" y="5596128"/>
            <a:ext cx="8897112" cy="411480"/>
          </a:xfrm>
          <a:prstGeom prst="roundRect">
            <a:avLst>
              <a:gd name="adj" fmla="val 8000"/>
            </a:avLst>
          </a:prstGeom>
          <a:solidFill>
            <a:srgbClr val="ECE9E1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5687568"/>
            <a:ext cx="85313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050" b="1">
                <a:solidFill>
                  <a:srgbClr val="60656C"/>
                </a:solidFill>
                <a:latin typeface="Poppins"/>
              </a:defRPr>
            </a:pPr>
            <a:r>
              <a:t>↺   Continuous Compounding Loop Across Every Brand &amp; Hardware 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1">
                <a:solidFill>
                  <a:srgbClr val="58725C"/>
                </a:solidFill>
                <a:latin typeface="Poppins"/>
              </a:defRPr>
            </a:pPr>
            <a:r>
              <a:t>06 ·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1400" b="1">
                <a:solidFill>
                  <a:srgbClr val="23262A"/>
                </a:solidFill>
                <a:latin typeface="Poppins"/>
              </a:defRPr>
            </a:pPr>
            <a:r>
              <a:t>Banrai</a:t>
            </a:r>
          </a:p>
        </p:txBody>
      </p:sp>
      <p:sp>
        <p:nvSpPr>
          <p:cNvPr id="4" name="Oval 3"/>
          <p:cNvSpPr/>
          <p:nvPr/>
        </p:nvSpPr>
        <p:spPr>
          <a:xfrm>
            <a:off x="11247120" y="557784"/>
            <a:ext cx="82296" cy="82296"/>
          </a:xfrm>
          <a:prstGeom prst="ellipse">
            <a:avLst/>
          </a:prstGeom>
          <a:solidFill>
            <a:srgbClr val="CAFB5B"/>
          </a:solidFill>
          <a:ln w="9525">
            <a:solidFill>
              <a:srgbClr val="9C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6309360"/>
            <a:ext cx="1051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900" b="0">
                <a:solidFill>
                  <a:srgbClr val="8E9298"/>
                </a:solidFill>
                <a:latin typeface="Poppins"/>
              </a:defRPr>
            </a:pPr>
            <a:r>
              <a:t>07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9601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defRPr sz="2800" b="1">
                <a:solidFill>
                  <a:srgbClr val="23262A"/>
                </a:solidFill>
                <a:latin typeface="Poppins"/>
              </a:defRPr>
            </a:pPr>
            <a:r>
              <a:t>Delightfully “Useless.” Commercially Unstoppable.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3337560" cy="2834640"/>
          </a:xfrm>
          <a:prstGeom prst="roundRect">
            <a:avLst>
              <a:gd name="adj" fmla="val 4000"/>
            </a:avLst>
          </a:prstGeom>
          <a:solidFill>
            <a:srgbClr val="FBFAF7"/>
          </a:solidFill>
          <a:ln w="15875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93392"/>
            <a:ext cx="2788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1">
                <a:solidFill>
                  <a:srgbClr val="60656C"/>
                </a:solidFill>
                <a:latin typeface="Poppins"/>
              </a:defRPr>
            </a:pPr>
            <a:r>
              <a:t>CATEGORY OF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23262A"/>
                </a:solidFill>
                <a:latin typeface="Poppins"/>
              </a:defRPr>
            </a:pPr>
            <a:r>
              <a:t>Fun AI &gt; Functional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71800"/>
            <a:ext cx="2788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150" b="0">
                <a:solidFill>
                  <a:srgbClr val="60656C"/>
                </a:solidFill>
                <a:latin typeface="Poppins"/>
              </a:defRPr>
            </a:pPr>
            <a:r>
              <a:t>Owning daily consumer joy &amp; voice while the rest of tech fights over spreadsheets.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691640"/>
            <a:ext cx="3337560" cy="2834640"/>
          </a:xfrm>
          <a:prstGeom prst="roundRect">
            <a:avLst>
              <a:gd name="adj" fmla="val 4000"/>
            </a:avLst>
          </a:prstGeom>
          <a:solidFill>
            <a:srgbClr val="CAFB5B"/>
          </a:solidFill>
          <a:ln w="15875">
            <a:solidFill>
              <a:srgbClr val="9C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1993392"/>
            <a:ext cx="2788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1">
                <a:solidFill>
                  <a:srgbClr val="60656C"/>
                </a:solidFill>
                <a:latin typeface="Poppins"/>
              </a:defRPr>
            </a:pPr>
            <a:r>
              <a:t>ASYMMETRIC HARDWARE MATH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2331720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23262A"/>
                </a:solidFill>
                <a:latin typeface="Poppins"/>
              </a:defRPr>
            </a:pPr>
            <a:r>
              <a:t>&lt; 9 Mos  ·  $150K–$200K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2971800"/>
            <a:ext cx="2788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150" b="0">
                <a:solidFill>
                  <a:srgbClr val="60656C"/>
                </a:solidFill>
                <a:latin typeface="Poppins"/>
              </a:defRPr>
            </a:pPr>
            <a:r>
              <a:t>1 shared AI + SaaS backend powers 6–10 US hardware launches per year.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691640"/>
            <a:ext cx="3337560" cy="2834640"/>
          </a:xfrm>
          <a:prstGeom prst="roundRect">
            <a:avLst>
              <a:gd name="adj" fmla="val 4000"/>
            </a:avLst>
          </a:prstGeom>
          <a:solidFill>
            <a:srgbClr val="FBFAF7"/>
          </a:solidFill>
          <a:ln w="15875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993392"/>
            <a:ext cx="2788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1">
                <a:solidFill>
                  <a:srgbClr val="60656C"/>
                </a:solidFill>
                <a:latin typeface="Poppins"/>
              </a:defRPr>
            </a:pPr>
            <a:r>
              <a:t>COMPOUNDING DATA MOAT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331720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23262A"/>
                </a:solidFill>
                <a:latin typeface="Poppins"/>
              </a:defRPr>
            </a:pPr>
            <a:r>
              <a:t>2 Launching · 3 Prototyping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971800"/>
            <a:ext cx="2788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150" b="0">
                <a:solidFill>
                  <a:srgbClr val="60656C"/>
                </a:solidFill>
                <a:latin typeface="Poppins"/>
              </a:defRPr>
            </a:pPr>
            <a:r>
              <a:t>2,000 US units shipping Dec 2026; building the only dataset of human play.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00600"/>
            <a:ext cx="10543032" cy="1280160"/>
          </a:xfrm>
          <a:prstGeom prst="roundRect">
            <a:avLst>
              <a:gd name="adj" fmla="val 4000"/>
            </a:avLst>
          </a:prstGeom>
          <a:solidFill>
            <a:srgbClr val="FBFAF7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102352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1400" b="1">
                <a:solidFill>
                  <a:srgbClr val="23262A"/>
                </a:solidFill>
                <a:latin typeface="Poppins"/>
              </a:defRPr>
            </a:pPr>
            <a:r>
              <a:t>Banrai</a:t>
            </a:r>
          </a:p>
        </p:txBody>
      </p:sp>
      <p:sp>
        <p:nvSpPr>
          <p:cNvPr id="21" name="Oval 20"/>
          <p:cNvSpPr/>
          <p:nvPr/>
        </p:nvSpPr>
        <p:spPr>
          <a:xfrm>
            <a:off x="2148839" y="5202936"/>
            <a:ext cx="82296" cy="82296"/>
          </a:xfrm>
          <a:prstGeom prst="ellipse">
            <a:avLst/>
          </a:prstGeom>
          <a:solidFill>
            <a:srgbClr val="CAFB5B"/>
          </a:solidFill>
          <a:ln w="9525">
            <a:solidFill>
              <a:srgbClr val="9C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46811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23262A"/>
                </a:solidFill>
                <a:latin typeface="Poppins"/>
              </a:defRPr>
            </a:pPr>
            <a:r>
              <a:t>Make Humans Talk Again.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138928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  <a:defRPr sz="1150" b="0">
                <a:solidFill>
                  <a:srgbClr val="60656C"/>
                </a:solidFill>
                <a:latin typeface="Poppins"/>
              </a:defRPr>
            </a:pPr>
            <a:r>
              <a:t>banrai.ai   ·   hello@banrai.ai</a:t>
            </a:r>
          </a:p>
          <a:p>
            <a:pPr algn="r">
              <a:lnSpc>
                <a:spcPct val="140000"/>
              </a:lnSpc>
              <a:defRPr sz="1150" b="0">
                <a:solidFill>
                  <a:srgbClr val="60656C"/>
                </a:solidFill>
                <a:latin typeface="Poppins"/>
              </a:defRPr>
            </a:pPr>
            <a:r>
              <a:t>Seed+ Investor Presentation  ·  Appendix Follows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1">
                <a:solidFill>
                  <a:srgbClr val="58725C"/>
                </a:solidFill>
                <a:latin typeface="Poppins"/>
              </a:defRPr>
            </a:pPr>
            <a:r>
              <a:t>APPENDIX A1 · WAVE 1 PRODUCT GALLERY (DEC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1400" b="1">
                <a:solidFill>
                  <a:srgbClr val="23262A"/>
                </a:solidFill>
                <a:latin typeface="Poppins"/>
              </a:defRPr>
            </a:pPr>
            <a:r>
              <a:t>Banrai</a:t>
            </a:r>
          </a:p>
        </p:txBody>
      </p:sp>
      <p:sp>
        <p:nvSpPr>
          <p:cNvPr id="4" name="Oval 3"/>
          <p:cNvSpPr/>
          <p:nvPr/>
        </p:nvSpPr>
        <p:spPr>
          <a:xfrm>
            <a:off x="11247120" y="557784"/>
            <a:ext cx="82296" cy="82296"/>
          </a:xfrm>
          <a:prstGeom prst="ellipse">
            <a:avLst/>
          </a:prstGeom>
          <a:solidFill>
            <a:srgbClr val="CAFB5B"/>
          </a:solidFill>
          <a:ln w="9525">
            <a:solidFill>
              <a:srgbClr val="9C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6309360"/>
            <a:ext cx="1051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900" b="0">
                <a:solidFill>
                  <a:srgbClr val="8E9298"/>
                </a:solidFill>
                <a:latin typeface="Poppins"/>
              </a:defRPr>
            </a:pPr>
            <a:r>
              <a:t>A1 / 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9601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defRPr sz="2800" b="1">
                <a:solidFill>
                  <a:srgbClr val="23262A"/>
                </a:solidFill>
                <a:latin typeface="Poppins"/>
              </a:defRPr>
            </a:pPr>
            <a:r>
              <a:t>Shipping Dec 2026: 1,000 US Units Each (On Budget)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72768"/>
            <a:ext cx="5120640" cy="4572000"/>
          </a:xfrm>
          <a:prstGeom prst="roundRect">
            <a:avLst>
              <a:gd name="adj" fmla="val 3000"/>
            </a:avLst>
          </a:prstGeom>
          <a:solidFill>
            <a:srgbClr val="FBFAF7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4128" y="1755648"/>
            <a:ext cx="4718304" cy="3017520"/>
          </a:xfrm>
          <a:prstGeom prst="roundRect">
            <a:avLst>
              <a:gd name="adj" fmla="val 4000"/>
            </a:avLst>
          </a:prstGeom>
          <a:solidFill>
            <a:srgbClr val="ECE9E1"/>
          </a:solidFill>
          <a:ln w="15875">
            <a:solidFill>
              <a:srgbClr val="A8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145536" y="2825496"/>
            <a:ext cx="475488" cy="475488"/>
          </a:xfrm>
          <a:prstGeom prst="ellipse">
            <a:avLst/>
          </a:prstGeom>
          <a:solidFill>
            <a:srgbClr val="FBFAF7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45536" y="28254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defRPr sz="1600" b="0">
                <a:solidFill>
                  <a:srgbClr val="60656C"/>
                </a:solidFill>
                <a:latin typeface="Poppins"/>
              </a:defRPr>
            </a:pPr>
            <a:r>
              <a:t>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392424"/>
            <a:ext cx="4169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150" b="1">
                <a:solidFill>
                  <a:srgbClr val="23262A"/>
                </a:solidFill>
                <a:latin typeface="Poppins"/>
              </a:defRPr>
            </a:pPr>
            <a:r>
              <a:t>[ Drop Product Photo · Magical Living Photo Frame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648456"/>
            <a:ext cx="4169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0">
                <a:solidFill>
                  <a:srgbClr val="8E9298"/>
                </a:solidFill>
                <a:latin typeface="Poppins"/>
              </a:defRPr>
            </a:pPr>
            <a:r>
              <a:t>Generous 16:10 frame for hardware + animated portrait preview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4919472"/>
            <a:ext cx="1600200" cy="256032"/>
          </a:xfrm>
          <a:prstGeom prst="roundRect">
            <a:avLst>
              <a:gd name="adj" fmla="val 15000"/>
            </a:avLst>
          </a:prstGeom>
          <a:solidFill>
            <a:srgbClr val="CAFB5B"/>
          </a:solidFill>
          <a:ln w="12700">
            <a:solidFill>
              <a:srgbClr val="9C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956048"/>
            <a:ext cx="14904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850" b="1">
                <a:solidFill>
                  <a:srgbClr val="23262A"/>
                </a:solidFill>
                <a:latin typeface="Poppins"/>
              </a:defRPr>
            </a:pPr>
            <a:r>
              <a:t>DEC 2026 · 1K UNITS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901184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500" b="1">
                <a:solidFill>
                  <a:srgbClr val="23262A"/>
                </a:solidFill>
                <a:latin typeface="Poppins"/>
              </a:defRPr>
            </a:pPr>
            <a:r>
              <a:t>Magical Living Photo Frame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5303520"/>
            <a:ext cx="471830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60656C"/>
                </a:solidFill>
                <a:latin typeface="Poppins"/>
              </a:defRPr>
            </a:pPr>
            <a:r>
              <a:t>• Harry Potter-style living portraits that wave hello as you walk by.</a:t>
            </a:r>
          </a:p>
          <a:p>
            <a:pPr algn="l">
              <a:lnSpc>
                <a:spcPct val="135000"/>
              </a:lnSpc>
              <a:defRPr sz="1050" b="0">
                <a:solidFill>
                  <a:srgbClr val="60656C"/>
                </a:solidFill>
                <a:latin typeface="Poppins"/>
              </a:defRPr>
            </a:pPr>
            <a:r>
              <a:t>• Syncs with live local weather (pulls out an umbrella when it rains outside).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572768"/>
            <a:ext cx="5120640" cy="4572000"/>
          </a:xfrm>
          <a:prstGeom prst="roundRect">
            <a:avLst>
              <a:gd name="adj" fmla="val 3000"/>
            </a:avLst>
          </a:prstGeom>
          <a:solidFill>
            <a:srgbClr val="FBFAF7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1755648"/>
            <a:ext cx="4718304" cy="3017520"/>
          </a:xfrm>
          <a:prstGeom prst="roundRect">
            <a:avLst>
              <a:gd name="adj" fmla="val 4000"/>
            </a:avLst>
          </a:prstGeom>
          <a:solidFill>
            <a:srgbClr val="ECE9E1"/>
          </a:solidFill>
          <a:ln w="15875">
            <a:solidFill>
              <a:srgbClr val="A8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67928" y="2825496"/>
            <a:ext cx="475488" cy="475488"/>
          </a:xfrm>
          <a:prstGeom prst="ellipse">
            <a:avLst/>
          </a:prstGeom>
          <a:solidFill>
            <a:srgbClr val="FBFAF7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7928" y="28254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defRPr sz="1600" b="0">
                <a:solidFill>
                  <a:srgbClr val="60656C"/>
                </a:solidFill>
                <a:latin typeface="Poppins"/>
              </a:defRPr>
            </a:pPr>
            <a:r>
              <a:t>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392424"/>
            <a:ext cx="4169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150" b="1">
                <a:solidFill>
                  <a:srgbClr val="23262A"/>
                </a:solidFill>
                <a:latin typeface="Poppins"/>
              </a:defRPr>
            </a:pPr>
            <a:r>
              <a:t>[ Drop Product Photo · Pocket Interactive Bible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648456"/>
            <a:ext cx="4169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0">
                <a:solidFill>
                  <a:srgbClr val="8E9298"/>
                </a:solidFill>
                <a:latin typeface="Poppins"/>
              </a:defRPr>
            </a:pPr>
            <a:r>
              <a:t>Generous 16:10 frame for standalone E-Ink + 4G hardware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4919472"/>
            <a:ext cx="1600200" cy="256032"/>
          </a:xfrm>
          <a:prstGeom prst="roundRect">
            <a:avLst>
              <a:gd name="adj" fmla="val 15000"/>
            </a:avLst>
          </a:prstGeom>
          <a:solidFill>
            <a:srgbClr val="E1E8E0"/>
          </a:solidFill>
          <a:ln w="12700">
            <a:solidFill>
              <a:srgbClr val="587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1384" y="4956048"/>
            <a:ext cx="14904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850" b="1">
                <a:solidFill>
                  <a:srgbClr val="23262A"/>
                </a:solidFill>
                <a:latin typeface="Poppins"/>
              </a:defRPr>
            </a:pPr>
            <a:r>
              <a:t>DEC 2026 · 1K UNITS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5592" y="4901184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500" b="1">
                <a:solidFill>
                  <a:srgbClr val="23262A"/>
                </a:solidFill>
                <a:latin typeface="Poppins"/>
              </a:defRPr>
            </a:pPr>
            <a:r>
              <a:t>Pocket Interactive Bible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303520"/>
            <a:ext cx="471830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60656C"/>
                </a:solidFill>
                <a:latin typeface="Poppins"/>
              </a:defRPr>
            </a:pPr>
            <a:r>
              <a:t>• Standalone E-Ink + 4G cellular device for focused, distraction-free faith.</a:t>
            </a:r>
          </a:p>
          <a:p>
            <a:pPr algn="l">
              <a:lnSpc>
                <a:spcPct val="135000"/>
              </a:lnSpc>
              <a:defRPr sz="1050" b="0">
                <a:solidFill>
                  <a:srgbClr val="60656C"/>
                </a:solidFill>
                <a:latin typeface="Poppins"/>
              </a:defRPr>
            </a:pPr>
            <a:r>
              <a:t>• Warm Christian companion that deepens Scripture understanding via daily talk.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1">
                <a:solidFill>
                  <a:srgbClr val="58725C"/>
                </a:solidFill>
                <a:latin typeface="Poppins"/>
              </a:defRPr>
            </a:pPr>
            <a:r>
              <a:t>APPENDIX A2 · WAVE 2 PRODUCT GALLERY (H1 2027)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1400" b="1">
                <a:solidFill>
                  <a:srgbClr val="23262A"/>
                </a:solidFill>
                <a:latin typeface="Poppins"/>
              </a:defRPr>
            </a:pPr>
            <a:r>
              <a:t>Banrai</a:t>
            </a:r>
          </a:p>
        </p:txBody>
      </p:sp>
      <p:sp>
        <p:nvSpPr>
          <p:cNvPr id="4" name="Oval 3"/>
          <p:cNvSpPr/>
          <p:nvPr/>
        </p:nvSpPr>
        <p:spPr>
          <a:xfrm>
            <a:off x="11247120" y="557784"/>
            <a:ext cx="82296" cy="82296"/>
          </a:xfrm>
          <a:prstGeom prst="ellipse">
            <a:avLst/>
          </a:prstGeom>
          <a:solidFill>
            <a:srgbClr val="CAFB5B"/>
          </a:solidFill>
          <a:ln w="9525">
            <a:solidFill>
              <a:srgbClr val="9C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6309360"/>
            <a:ext cx="1051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900" b="0">
                <a:solidFill>
                  <a:srgbClr val="8E9298"/>
                </a:solidFill>
                <a:latin typeface="Poppins"/>
              </a:defRPr>
            </a:pPr>
            <a:r>
              <a:t>A2 / 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9601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defRPr sz="2800" b="1">
                <a:solidFill>
                  <a:srgbClr val="23262A"/>
                </a:solidFill>
                <a:latin typeface="Poppins"/>
              </a:defRPr>
            </a:pPr>
            <a:r>
              <a:t>Prototyping for H1 2027: Morning Rituals &amp; Voice Gaming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72768"/>
            <a:ext cx="5120640" cy="4572000"/>
          </a:xfrm>
          <a:prstGeom prst="roundRect">
            <a:avLst>
              <a:gd name="adj" fmla="val 3000"/>
            </a:avLst>
          </a:prstGeom>
          <a:solidFill>
            <a:srgbClr val="FBFAF7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4128" y="1755648"/>
            <a:ext cx="4718304" cy="3017520"/>
          </a:xfrm>
          <a:prstGeom prst="roundRect">
            <a:avLst>
              <a:gd name="adj" fmla="val 4000"/>
            </a:avLst>
          </a:prstGeom>
          <a:solidFill>
            <a:srgbClr val="ECE9E1"/>
          </a:solidFill>
          <a:ln w="15875">
            <a:solidFill>
              <a:srgbClr val="A8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145536" y="2825496"/>
            <a:ext cx="475488" cy="475488"/>
          </a:xfrm>
          <a:prstGeom prst="ellipse">
            <a:avLst/>
          </a:prstGeom>
          <a:solidFill>
            <a:srgbClr val="FBFAF7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45536" y="28254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defRPr sz="1600" b="0">
                <a:solidFill>
                  <a:srgbClr val="60656C"/>
                </a:solidFill>
                <a:latin typeface="Poppins"/>
              </a:defRPr>
            </a:pPr>
            <a:r>
              <a:t>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392424"/>
            <a:ext cx="4169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150" b="1">
                <a:solidFill>
                  <a:srgbClr val="23262A"/>
                </a:solidFill>
                <a:latin typeface="Poppins"/>
              </a:defRPr>
            </a:pPr>
            <a:r>
              <a:t>[ Drop Product Photo · Dream Printer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648456"/>
            <a:ext cx="4169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0">
                <a:solidFill>
                  <a:srgbClr val="8E9298"/>
                </a:solidFill>
                <a:latin typeface="Poppins"/>
              </a:defRPr>
            </a:pPr>
            <a:r>
              <a:t>Bedside alarm-clock hardware + visual dream diary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4919472"/>
            <a:ext cx="1691640" cy="256032"/>
          </a:xfrm>
          <a:prstGeom prst="roundRect">
            <a:avLst>
              <a:gd name="adj" fmla="val 15000"/>
            </a:avLst>
          </a:prstGeom>
          <a:solidFill>
            <a:srgbClr val="E0E7EC"/>
          </a:solidFill>
          <a:ln w="12700">
            <a:solidFill>
              <a:srgbClr val="4E6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956048"/>
            <a:ext cx="15819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850" b="1">
                <a:solidFill>
                  <a:srgbClr val="23262A"/>
                </a:solidFill>
                <a:latin typeface="Poppins"/>
              </a:defRPr>
            </a:pPr>
            <a:r>
              <a:t>H1 2027 · 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901184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500" b="1">
                <a:solidFill>
                  <a:srgbClr val="23262A"/>
                </a:solidFill>
                <a:latin typeface="Poppins"/>
              </a:defRPr>
            </a:pPr>
            <a:r>
              <a:t>Dream Printer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5303520"/>
            <a:ext cx="471830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60656C"/>
                </a:solidFill>
                <a:latin typeface="Poppins"/>
              </a:defRPr>
            </a:pPr>
            <a:r>
              <a:t>• Press a button upon waking to speak your dream; generates dream art + transcript.</a:t>
            </a:r>
          </a:p>
          <a:p>
            <a:pPr algn="l">
              <a:lnSpc>
                <a:spcPct val="135000"/>
              </a:lnSpc>
              <a:defRPr sz="1050" b="0">
                <a:solidFill>
                  <a:srgbClr val="60656C"/>
                </a:solidFill>
                <a:latin typeface="Poppins"/>
              </a:defRPr>
            </a:pPr>
            <a:r>
              <a:t>• Builds a connected dream diary linking recurring themes across prior nights.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572768"/>
            <a:ext cx="5120640" cy="4572000"/>
          </a:xfrm>
          <a:prstGeom prst="roundRect">
            <a:avLst>
              <a:gd name="adj" fmla="val 3000"/>
            </a:avLst>
          </a:prstGeom>
          <a:solidFill>
            <a:srgbClr val="FBFAF7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1755648"/>
            <a:ext cx="4718304" cy="3017520"/>
          </a:xfrm>
          <a:prstGeom prst="roundRect">
            <a:avLst>
              <a:gd name="adj" fmla="val 4000"/>
            </a:avLst>
          </a:prstGeom>
          <a:solidFill>
            <a:srgbClr val="ECE9E1"/>
          </a:solidFill>
          <a:ln w="15875">
            <a:solidFill>
              <a:srgbClr val="A8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67928" y="2825496"/>
            <a:ext cx="475488" cy="475488"/>
          </a:xfrm>
          <a:prstGeom prst="ellipse">
            <a:avLst/>
          </a:prstGeom>
          <a:solidFill>
            <a:srgbClr val="FBFAF7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7928" y="28254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defRPr sz="1600" b="0">
                <a:solidFill>
                  <a:srgbClr val="60656C"/>
                </a:solidFill>
                <a:latin typeface="Poppins"/>
              </a:defRPr>
            </a:pPr>
            <a:r>
              <a:t>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392424"/>
            <a:ext cx="4169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150" b="1">
                <a:solidFill>
                  <a:srgbClr val="23262A"/>
                </a:solidFill>
                <a:latin typeface="Poppins"/>
              </a:defRPr>
            </a:pPr>
            <a:r>
              <a:t>[ Drop Product Photo · Voice Walkie-Talkie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648456"/>
            <a:ext cx="4169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0">
                <a:solidFill>
                  <a:srgbClr val="8E9298"/>
                </a:solidFill>
                <a:latin typeface="Poppins"/>
              </a:defRPr>
            </a:pPr>
            <a:r>
              <a:t>Tactile walkie-talkie gaming hardware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4919472"/>
            <a:ext cx="1691640" cy="256032"/>
          </a:xfrm>
          <a:prstGeom prst="roundRect">
            <a:avLst>
              <a:gd name="adj" fmla="val 15000"/>
            </a:avLst>
          </a:prstGeom>
          <a:solidFill>
            <a:srgbClr val="E0E7EC"/>
          </a:solidFill>
          <a:ln w="12700">
            <a:solidFill>
              <a:srgbClr val="4E6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1384" y="4956048"/>
            <a:ext cx="15819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850" b="1">
                <a:solidFill>
                  <a:srgbClr val="23262A"/>
                </a:solidFill>
                <a:latin typeface="Poppins"/>
              </a:defRPr>
            </a:pPr>
            <a:r>
              <a:t>H1 2027 · PROTOTYPE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4901184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500" b="1">
                <a:solidFill>
                  <a:srgbClr val="23262A"/>
                </a:solidFill>
                <a:latin typeface="Poppins"/>
              </a:defRPr>
            </a:pPr>
            <a:r>
              <a:t>Voice Gaming Walkie-Talkie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303520"/>
            <a:ext cx="471830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60656C"/>
                </a:solidFill>
                <a:latin typeface="Poppins"/>
              </a:defRPr>
            </a:pPr>
            <a:r>
              <a:t>• A character stranded on an alien planet or escape room calls for your help.</a:t>
            </a:r>
          </a:p>
          <a:p>
            <a:pPr algn="l">
              <a:lnSpc>
                <a:spcPct val="135000"/>
              </a:lnSpc>
              <a:defRPr sz="1050" b="0">
                <a:solidFill>
                  <a:srgbClr val="60656C"/>
                </a:solidFill>
                <a:latin typeface="Poppins"/>
              </a:defRPr>
            </a:pPr>
            <a:r>
              <a:t>• Calm them down, guide exploration, and solve live incidents by voice.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1">
                <a:solidFill>
                  <a:srgbClr val="58725C"/>
                </a:solidFill>
                <a:latin typeface="Poppins"/>
              </a:defRPr>
            </a:pPr>
            <a:r>
              <a:t>APPENDIX A3 · WAVE 2 PRODUCT GALLERY (H1 2027)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1400" b="1">
                <a:solidFill>
                  <a:srgbClr val="23262A"/>
                </a:solidFill>
                <a:latin typeface="Poppins"/>
              </a:defRPr>
            </a:pPr>
            <a:r>
              <a:t>Banrai</a:t>
            </a:r>
          </a:p>
        </p:txBody>
      </p:sp>
      <p:sp>
        <p:nvSpPr>
          <p:cNvPr id="4" name="Oval 3"/>
          <p:cNvSpPr/>
          <p:nvPr/>
        </p:nvSpPr>
        <p:spPr>
          <a:xfrm>
            <a:off x="11247120" y="557784"/>
            <a:ext cx="82296" cy="82296"/>
          </a:xfrm>
          <a:prstGeom prst="ellipse">
            <a:avLst/>
          </a:prstGeom>
          <a:solidFill>
            <a:srgbClr val="CAFB5B"/>
          </a:solidFill>
          <a:ln w="9525">
            <a:solidFill>
              <a:srgbClr val="9C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6309360"/>
            <a:ext cx="1051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900" b="0">
                <a:solidFill>
                  <a:srgbClr val="8E9298"/>
                </a:solidFill>
                <a:latin typeface="Poppins"/>
              </a:defRPr>
            </a:pPr>
            <a:r>
              <a:t>A3 / 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9601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defRPr sz="2800" b="1">
                <a:solidFill>
                  <a:srgbClr val="23262A"/>
                </a:solidFill>
                <a:latin typeface="Poppins"/>
              </a:defRPr>
            </a:pPr>
            <a:r>
              <a:t>Prototyping for H1 2027: E-Ink Children’s Story Doodle Pad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72768"/>
            <a:ext cx="4069080" cy="4572000"/>
          </a:xfrm>
          <a:prstGeom prst="roundRect">
            <a:avLst>
              <a:gd name="adj" fmla="val 3000"/>
            </a:avLst>
          </a:prstGeom>
          <a:solidFill>
            <a:srgbClr val="FBFAF7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847088"/>
            <a:ext cx="1783080" cy="274320"/>
          </a:xfrm>
          <a:prstGeom prst="roundRect">
            <a:avLst>
              <a:gd name="adj" fmla="val 15000"/>
            </a:avLst>
          </a:prstGeom>
          <a:solidFill>
            <a:srgbClr val="CAFB5B"/>
          </a:solidFill>
          <a:ln w="12700">
            <a:solidFill>
              <a:srgbClr val="9C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1892807"/>
            <a:ext cx="16733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850" b="1">
                <a:solidFill>
                  <a:srgbClr val="23262A"/>
                </a:solidFill>
                <a:latin typeface="Poppins"/>
              </a:defRPr>
            </a:pPr>
            <a:r>
              <a:t>H1 2027 ·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3520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defRPr sz="2000" b="1">
                <a:solidFill>
                  <a:srgbClr val="23262A"/>
                </a:solidFill>
                <a:latin typeface="Poppins"/>
              </a:defRPr>
            </a:pPr>
            <a:r>
              <a:t>Eye-Friendly E-Ink</a:t>
            </a:r>
          </a:p>
          <a:p>
            <a:pPr algn="l">
              <a:lnSpc>
                <a:spcPct val="118000"/>
              </a:lnSpc>
              <a:defRPr sz="2000" b="1">
                <a:solidFill>
                  <a:srgbClr val="23262A"/>
                </a:solidFill>
                <a:latin typeface="Poppins"/>
              </a:defRPr>
            </a:pPr>
            <a:r>
              <a:t>Children’s Doodle Pad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99232"/>
            <a:ext cx="3520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60656C"/>
                </a:solidFill>
                <a:latin typeface="Poppins"/>
              </a:defRPr>
            </a:pPr>
            <a:r>
              <a:t>How kids should experience AI—long before they even know what AI 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657600"/>
            <a:ext cx="3520440" cy="640080"/>
          </a:xfrm>
          <a:prstGeom prst="roundRect">
            <a:avLst>
              <a:gd name="adj" fmla="val 6000"/>
            </a:avLst>
          </a:prstGeom>
          <a:solidFill>
            <a:srgbClr val="ECE9E1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3749039"/>
            <a:ext cx="3200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050" b="1">
                <a:solidFill>
                  <a:srgbClr val="23262A"/>
                </a:solidFill>
                <a:latin typeface="Poppins"/>
              </a:defRPr>
            </a:pPr>
            <a:r>
              <a:t>Doodle → Comic 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977639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0">
                <a:solidFill>
                  <a:srgbClr val="60656C"/>
                </a:solidFill>
                <a:latin typeface="Poppins"/>
              </a:defRPr>
            </a:pPr>
            <a:r>
              <a:t>Extends any child’s sketch into a back-and-forth comic adventure.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407408"/>
            <a:ext cx="3520440" cy="640080"/>
          </a:xfrm>
          <a:prstGeom prst="roundRect">
            <a:avLst>
              <a:gd name="adj" fmla="val 6000"/>
            </a:avLst>
          </a:prstGeom>
          <a:solidFill>
            <a:srgbClr val="ECE9E1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498848"/>
            <a:ext cx="3200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050" b="1">
                <a:solidFill>
                  <a:srgbClr val="23262A"/>
                </a:solidFill>
                <a:latin typeface="Poppins"/>
              </a:defRPr>
            </a:pPr>
            <a:r>
              <a:t>Visual Q&amp;A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727448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0">
                <a:solidFill>
                  <a:srgbClr val="60656C"/>
                </a:solidFill>
                <a:latin typeface="Poppins"/>
              </a:defRPr>
            </a:pPr>
            <a:r>
              <a:t>Answers handwritten or doodled questions in a child-friendly way.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5157216"/>
            <a:ext cx="3520440" cy="640080"/>
          </a:xfrm>
          <a:prstGeom prst="roundRect">
            <a:avLst>
              <a:gd name="adj" fmla="val 6000"/>
            </a:avLst>
          </a:prstGeom>
          <a:solidFill>
            <a:srgbClr val="ECE9E1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61872" y="5248655"/>
            <a:ext cx="3200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050" b="1">
                <a:solidFill>
                  <a:srgbClr val="23262A"/>
                </a:solidFill>
                <a:latin typeface="Poppins"/>
              </a:defRPr>
            </a:pPr>
            <a:r>
              <a:t>Calm E-Ink Screen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5477255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950" b="0">
                <a:solidFill>
                  <a:srgbClr val="60656C"/>
                </a:solidFill>
                <a:latin typeface="Poppins"/>
              </a:defRPr>
            </a:pPr>
            <a:r>
              <a:t>Zero blue light or addictive feeds—pure creative agency.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1572768"/>
            <a:ext cx="6245352" cy="4572000"/>
          </a:xfrm>
          <a:prstGeom prst="roundRect">
            <a:avLst>
              <a:gd name="adj" fmla="val 3000"/>
            </a:avLst>
          </a:prstGeom>
          <a:solidFill>
            <a:srgbClr val="FBFAF7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49240" y="1783080"/>
            <a:ext cx="5788152" cy="4151376"/>
          </a:xfrm>
          <a:prstGeom prst="roundRect">
            <a:avLst>
              <a:gd name="adj" fmla="val 4000"/>
            </a:avLst>
          </a:prstGeom>
          <a:solidFill>
            <a:srgbClr val="ECE9E1"/>
          </a:solidFill>
          <a:ln w="15875">
            <a:solidFill>
              <a:srgbClr val="A8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05572" y="3419856"/>
            <a:ext cx="475488" cy="475488"/>
          </a:xfrm>
          <a:prstGeom prst="ellipse">
            <a:avLst/>
          </a:prstGeom>
          <a:solidFill>
            <a:srgbClr val="FBFAF7"/>
          </a:solidFill>
          <a:ln w="12700">
            <a:solidFill>
              <a:srgbClr val="D8D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5572" y="341985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defRPr sz="1600" b="0">
                <a:solidFill>
                  <a:srgbClr val="60656C"/>
                </a:solidFill>
                <a:latin typeface="Poppins"/>
              </a:defRPr>
            </a:pPr>
            <a:r>
              <a:t>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59" y="3986783"/>
            <a:ext cx="52395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150" b="1">
                <a:solidFill>
                  <a:srgbClr val="23262A"/>
                </a:solidFill>
                <a:latin typeface="Poppins"/>
              </a:defRPr>
            </a:pPr>
            <a:r>
              <a:t>[ Hero Product Photo · E-Ink Children’s Story Doodle Pad 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59" y="4242816"/>
            <a:ext cx="52395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950" b="0">
                <a:solidFill>
                  <a:srgbClr val="8E9298"/>
                </a:solidFill>
                <a:latin typeface="Poppins"/>
              </a:defRPr>
            </a:pPr>
            <a:r>
              <a:t>Drop large hardware photo + child sketch-to-comic interaction sequence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