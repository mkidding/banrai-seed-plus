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352544" y="1417320"/>
            <a:ext cx="3474720" cy="329184"/>
          </a:xfrm>
          <a:prstGeom prst="roundRect">
            <a:avLst>
              <a:gd name="adj" fmla="val 50000"/>
            </a:avLst>
          </a:prstGeom>
          <a:solidFill>
            <a:srgbClr val="1A2622"/>
          </a:solidFill>
          <a:ln w="1270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425696" y="1435608"/>
            <a:ext cx="332841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950" b="1">
                <a:solidFill>
                  <a:srgbClr val="CAFB5B"/>
                </a:solidFill>
                <a:latin typeface="Poppins"/>
              </a:defRPr>
            </a:pPr>
            <a:r>
              <a:t>✦  AI-NATIVE CONSUMER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9080" y="205740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6400" b="1">
                <a:solidFill>
                  <a:srgbClr val="F2F5F8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6" name="Oval 5"/>
          <p:cNvSpPr/>
          <p:nvPr/>
        </p:nvSpPr>
        <p:spPr>
          <a:xfrm>
            <a:off x="7470648" y="2441448"/>
            <a:ext cx="329184" cy="329184"/>
          </a:xfrm>
          <a:prstGeom prst="ellipse">
            <a:avLst/>
          </a:prstGeom>
          <a:solidFill>
            <a:srgbClr val="1A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2514600"/>
            <a:ext cx="182880" cy="182880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94484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3400" b="1">
                <a:solidFill>
                  <a:srgbClr val="F2F5F8"/>
                </a:solidFill>
                <a:latin typeface="Poppins"/>
              </a:defRPr>
            </a:pPr>
            <a:r>
              <a:t>Building the World’s First “Fun AI”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931920"/>
            <a:ext cx="83512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defRPr sz="1500" b="0">
                <a:solidFill>
                  <a:srgbClr val="A2B0C4"/>
                </a:solidFill>
                <a:latin typeface="Poppins"/>
              </a:defRPr>
            </a:pPr>
            <a:r>
              <a:t>Delightfully non-functional, AI-native consumer electronics for everyday joy.</a:t>
            </a:r>
            <a:br/>
            <a:r>
              <a:t>Guided by one quiet conviction: Make Humans Talk Again.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5166360"/>
            <a:ext cx="3063240" cy="960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35608" y="5321808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CAFB5B"/>
                </a:solidFill>
                <a:latin typeface="Poppins"/>
              </a:defRPr>
            </a:pPr>
            <a:r>
              <a:t>100% Subscription-Native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5650992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SaaS economics on physical hardware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166360"/>
            <a:ext cx="3063240" cy="960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5321808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CAFB5B"/>
                </a:solidFill>
                <a:latin typeface="Poppins"/>
              </a:defRPr>
            </a:pPr>
            <a:r>
              <a:t>&lt; 9 Months · $150K–$200K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5650992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Concept to first 1,000 US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5166360"/>
            <a:ext cx="3063240" cy="960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5321808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CAFB5B"/>
                </a:solidFill>
                <a:latin typeface="Poppins"/>
              </a:defRPr>
            </a:pPr>
            <a:r>
              <a:t>6–10 Products /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5650992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Multi-brand portfolio on one backend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01 · THE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02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Everyone Is Building Functional AI. We Build Fun 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In a sense, we are building the most 'useless' AI in the world—because human life isn’t a productivity spreadsheet.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074920" cy="333756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286000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72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304288"/>
            <a:ext cx="20025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900" b="1">
                <a:solidFill>
                  <a:srgbClr val="6C7C94"/>
                </a:solidFill>
                <a:latin typeface="Poppins"/>
              </a:defRPr>
            </a:pPr>
            <a:r>
              <a:t>THE INDUSTRY CROWD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2491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200" b="1">
                <a:solidFill>
                  <a:srgbClr val="A2B0C4"/>
                </a:solidFill>
                <a:latin typeface="Poppins"/>
              </a:defRPr>
            </a:pPr>
            <a:r>
              <a:t>Functional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46120"/>
            <a:ext cx="4434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6C7C94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Task-Obsessed: </a:t>
            </a:r>
            <a:r>
              <a:rPr sz="1200" b="0">
                <a:solidFill>
                  <a:srgbClr val="A2B0C4"/>
                </a:solidFill>
                <a:latin typeface="Poppins"/>
              </a:rPr>
              <a:t>Built to write emails, summarize meetings, and shave seconds off workflows.</a:t>
            </a:r>
          </a:p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6C7C94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Utility Mindset: </a:t>
            </a:r>
            <a:r>
              <a:rPr sz="1200" b="0">
                <a:solidFill>
                  <a:srgbClr val="A2B0C4"/>
                </a:solidFill>
                <a:latin typeface="Poppins"/>
              </a:rPr>
              <a:t>Users only engage when they have a chore or work problem to solve.</a:t>
            </a:r>
          </a:p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6C7C94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Commoditized Race: </a:t>
            </a:r>
            <a:r>
              <a:rPr sz="1200" b="0">
                <a:solidFill>
                  <a:srgbClr val="A2B0C4"/>
                </a:solidFill>
                <a:latin typeface="Poppins"/>
              </a:rPr>
              <a:t>Competing head-on with tech giants on raw benchmark utility.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011680"/>
            <a:ext cx="5239512" cy="333756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905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2860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A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304288"/>
            <a:ext cx="186537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900" b="1">
                <a:solidFill>
                  <a:srgbClr val="CAFB5B"/>
                </a:solidFill>
                <a:latin typeface="Poppins"/>
              </a:defRPr>
            </a:pPr>
            <a:r>
              <a:t>✦  OUR CATEGORY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2491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200" b="1">
                <a:solidFill>
                  <a:srgbClr val="F2F5F8"/>
                </a:solidFill>
                <a:latin typeface="Poppins"/>
              </a:defRPr>
            </a:pPr>
            <a:r>
              <a:t>Fun AI (Delightfully “Useless”)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4612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CAFB5B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Joy &amp; Curiosity First: </a:t>
            </a:r>
            <a:r>
              <a:rPr sz="1200" b="0">
                <a:solidFill>
                  <a:srgbClr val="A2B0C4"/>
                </a:solidFill>
                <a:latin typeface="Poppins"/>
              </a:rPr>
              <a:t>Built for moments of wonder, play, storytelling, and emotional warmth.</a:t>
            </a:r>
          </a:p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CAFB5B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Ambient Daily Presence: </a:t>
            </a:r>
            <a:r>
              <a:rPr sz="1200" b="0">
                <a:solidFill>
                  <a:srgbClr val="A2B0C4"/>
                </a:solidFill>
                <a:latin typeface="Poppins"/>
              </a:rPr>
              <a:t>Lives across diverse brands &amp; tactile form factors in everyday life.</a:t>
            </a:r>
          </a:p>
          <a:p>
            <a:pPr>
              <a:lnSpc>
                <a:spcPct val="132000"/>
              </a:lnSpc>
              <a:spcAft>
                <a:spcPts val="1200"/>
              </a:spcAft>
            </a:pPr>
            <a:r>
              <a:rPr sz="1000">
                <a:solidFill>
                  <a:srgbClr val="CAFB5B"/>
                </a:solidFill>
                <a:latin typeface="Poppins"/>
              </a:rPr>
              <a:t>●  </a:t>
            </a:r>
            <a:r>
              <a:rPr sz="1200" b="1">
                <a:solidFill>
                  <a:srgbClr val="F2F5F8"/>
                </a:solidFill>
                <a:latin typeface="Poppins"/>
              </a:rPr>
              <a:t>Zero Utility Pressure: </a:t>
            </a:r>
            <a:r>
              <a:rPr sz="1200" b="0">
                <a:solidFill>
                  <a:srgbClr val="A2B0C4"/>
                </a:solidFill>
                <a:latin typeface="Poppins"/>
              </a:rPr>
              <a:t>No tasks to optimize—just companions that spark smiles and dialogue.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532120"/>
            <a:ext cx="10634472" cy="749808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650992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000" b="1">
                <a:solidFill>
                  <a:srgbClr val="A8E6CF"/>
                </a:solidFill>
                <a:latin typeface="Poppins"/>
              </a:defRPr>
            </a:pPr>
            <a:r>
              <a:t>UNIFYING THEME 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8521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400" b="1">
                <a:solidFill>
                  <a:srgbClr val="F2F5F8"/>
                </a:solidFill>
                <a:latin typeface="Poppins"/>
              </a:defRPr>
            </a:pPr>
            <a:r>
              <a:t>“Make Humans Talk Again”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669280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After a decade of passive smartphone scrolling, our unifying theme inspires active voice, curiosity, and conversation—while letting every product share a single conversational AI backend.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02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03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Hardware as the Vessel. SaaS as the Engine.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Because our products are truly AI-native and consume live tokens, every device operates on a hard monthly subscription.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074920" cy="178308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Traditional Consumer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42032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800"/>
              </a:spcAft>
            </a:pPr>
            <a:r>
              <a:rPr sz="950">
                <a:solidFill>
                  <a:srgbClr val="6C7C94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One-Time Margin: </a:t>
            </a:r>
            <a:r>
              <a:rPr sz="1150" b="0">
                <a:solidFill>
                  <a:srgbClr val="A2B0C4"/>
                </a:solidFill>
                <a:latin typeface="Poppins"/>
              </a:rPr>
              <a:t>Profit stops the day the box is sold.</a:t>
            </a:r>
          </a:p>
          <a:p>
            <a:pPr>
              <a:lnSpc>
                <a:spcPct val="132000"/>
              </a:lnSpc>
              <a:spcAft>
                <a:spcPts val="800"/>
              </a:spcAft>
            </a:pPr>
            <a:r>
              <a:rPr sz="950">
                <a:solidFill>
                  <a:srgbClr val="6C7C94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Upgrade Treadmill: </a:t>
            </a:r>
            <a:r>
              <a:rPr sz="1150" b="0">
                <a:solidFill>
                  <a:srgbClr val="A2B0C4"/>
                </a:solidFill>
                <a:latin typeface="Poppins"/>
              </a:rPr>
              <a:t>Forced to push Gen-2 hardware or chase new unit buyers to survive.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65960"/>
            <a:ext cx="5239512" cy="178308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905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488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500" b="1">
                <a:solidFill>
                  <a:srgbClr val="CAFB5B"/>
                </a:solidFill>
                <a:latin typeface="Poppins"/>
              </a:defRPr>
            </a:pPr>
            <a:r>
              <a:t>Banrai Hard-Subscription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42032"/>
            <a:ext cx="4663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800"/>
              </a:spcAft>
            </a:pPr>
            <a:r>
              <a:rPr sz="950">
                <a:solidFill>
                  <a:srgbClr val="CAFB5B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No Free Tier: </a:t>
            </a:r>
            <a:r>
              <a:rPr sz="1150" b="0">
                <a:solidFill>
                  <a:srgbClr val="A2B0C4"/>
                </a:solidFill>
                <a:latin typeface="Poppins"/>
              </a:rPr>
              <a:t>Real token consumption requires sustainable recurring revenue.</a:t>
            </a:r>
          </a:p>
          <a:p>
            <a:pPr>
              <a:lnSpc>
                <a:spcPct val="132000"/>
              </a:lnSpc>
              <a:spcAft>
                <a:spcPts val="800"/>
              </a:spcAft>
            </a:pPr>
            <a:r>
              <a:rPr sz="950">
                <a:solidFill>
                  <a:srgbClr val="CAFB5B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Pure SaaS Alignment: </a:t>
            </a:r>
            <a:r>
              <a:rPr sz="1150" b="0">
                <a:solidFill>
                  <a:srgbClr val="A2B0C4"/>
                </a:solidFill>
                <a:latin typeface="Poppins"/>
              </a:rPr>
              <a:t>We win by delivering continuous daily delight that retains subscribers.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05072"/>
            <a:ext cx="3429000" cy="224028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397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422452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AFB5B"/>
                </a:solidFill>
                <a:latin typeface="Poppins"/>
              </a:defRPr>
            </a:pPr>
            <a:r>
              <a:t>01 · TACTILE ENTRY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1" y="4526280"/>
            <a:ext cx="2926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500" b="1">
                <a:solidFill>
                  <a:srgbClr val="F2F5F8"/>
                </a:solidFill>
                <a:latin typeface="Poppins"/>
              </a:defRPr>
            </a:pPr>
            <a:r>
              <a:t>Hardware + Bundled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4956048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Every device ships with several complimentary months of subscription—eliminating friction at first touch.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9976" y="4005072"/>
            <a:ext cx="3429000" cy="224028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3970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422452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A8E6CF"/>
                </a:solidFill>
                <a:latin typeface="Poppins"/>
              </a:defRPr>
            </a:pPr>
            <a:r>
              <a:t>02 · DAILY HABIT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4526280"/>
            <a:ext cx="2926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500" b="1">
                <a:solidFill>
                  <a:srgbClr val="F2F5F8"/>
                </a:solidFill>
                <a:latin typeface="Poppins"/>
              </a:defRPr>
            </a:pPr>
            <a:r>
              <a:t>Hard Monthly Subscription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4956048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To keep the companion alive after the trial period, users subscribe monthly—aligning token costs with high-margin recurring revenue.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82712" y="4005072"/>
            <a:ext cx="3429000" cy="224028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3970">
            <a:solidFill>
              <a:srgbClr val="C7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422452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7B9FF"/>
                </a:solidFill>
                <a:latin typeface="Poppins"/>
              </a:defRPr>
            </a:pPr>
            <a:r>
              <a:t>03 · SAAS COMPOUNDING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4526280"/>
            <a:ext cx="2926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500" b="1">
                <a:solidFill>
                  <a:srgbClr val="F2F5F8"/>
                </a:solidFill>
                <a:latin typeface="Poppins"/>
              </a:defRPr>
            </a:pPr>
            <a:r>
              <a:t>Continuous Value Delivery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4956048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Instead of pushing hardware replacements, our backend continuously evolves stories, personalities, and experiences.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03 · UNFAIR ADVANTAGE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04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Many Form Factors. One Unified AI &amp; Subscription 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Single-product hardware startups must sell 10M+ units to win. Our portfolio model wins at 100K+ units per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2542032" cy="2103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176272"/>
            <a:ext cx="21396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400" b="1">
                <a:solidFill>
                  <a:srgbClr val="CAFB5B"/>
                </a:solidFill>
                <a:latin typeface="Poppins"/>
              </a:defRPr>
            </a:pPr>
            <a:r>
              <a:t>&lt; 9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43200"/>
            <a:ext cx="21396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250" b="1">
                <a:solidFill>
                  <a:srgbClr val="F2F5F8"/>
                </a:solidFill>
                <a:latin typeface="Poppins"/>
              </a:defRPr>
            </a:pPr>
            <a:r>
              <a:t>Concept to 1,000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90672"/>
            <a:ext cx="21396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Total cycle from initial idea to first 1,000 units landing in the 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65960"/>
            <a:ext cx="2542032" cy="2103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176272"/>
            <a:ext cx="21396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400" b="1">
                <a:solidFill>
                  <a:srgbClr val="A8E6CF"/>
                </a:solidFill>
                <a:latin typeface="Poppins"/>
              </a:defRPr>
            </a:pPr>
            <a:r>
              <a:t>$150K–$200K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743200"/>
            <a:ext cx="21396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250" b="1">
                <a:solidFill>
                  <a:srgbClr val="F2F5F8"/>
                </a:solidFill>
                <a:latin typeface="Poppins"/>
              </a:defRPr>
            </a:pPr>
            <a:r>
              <a:t>All-In Launch CapEx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3090672"/>
            <a:ext cx="21396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Total R&amp;D + tooling + COGS for the first 1,000 US units per product.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965960"/>
            <a:ext cx="2542032" cy="2103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176272"/>
            <a:ext cx="21396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400" b="1">
                <a:solidFill>
                  <a:srgbClr val="C7B9FF"/>
                </a:solidFill>
                <a:latin typeface="Poppins"/>
              </a:defRPr>
            </a:pPr>
            <a:r>
              <a:t>100K+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743200"/>
            <a:ext cx="21396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250" b="1">
                <a:solidFill>
                  <a:srgbClr val="F2F5F8"/>
                </a:solidFill>
                <a:latin typeface="Poppins"/>
              </a:defRPr>
            </a:pPr>
            <a:r>
              <a:t>Success Threshold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090672"/>
            <a:ext cx="21396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Profitable scale per product line—no 10M-unit single-product gamble.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0" y="1965960"/>
            <a:ext cx="2542032" cy="21031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848" y="2176272"/>
            <a:ext cx="21396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400" b="1">
                <a:solidFill>
                  <a:srgbClr val="FDE08D"/>
                </a:solidFill>
                <a:latin typeface="Poppins"/>
              </a:defRPr>
            </a:pPr>
            <a:r>
              <a:t>100% US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743200"/>
            <a:ext cx="21396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250" b="1">
                <a:solidFill>
                  <a:srgbClr val="F2F5F8"/>
                </a:solidFill>
                <a:latin typeface="Poppins"/>
              </a:defRPr>
            </a:pPr>
            <a:r>
              <a:t>Focused Go-To-Market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3090672"/>
            <a:ext cx="21396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050" b="0">
                <a:solidFill>
                  <a:srgbClr val="A2B0C4"/>
                </a:solidFill>
                <a:latin typeface="Poppins"/>
              </a:defRPr>
            </a:pPr>
            <a:r>
              <a:t>Exclusively built and launched for US consumers with high subscription LTV.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315968"/>
            <a:ext cx="10634472" cy="192024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5875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262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050" b="1">
                <a:solidFill>
                  <a:srgbClr val="CAFB5B"/>
                </a:solidFill>
                <a:latin typeface="Poppins"/>
              </a:defRPr>
            </a:pPr>
            <a:r>
              <a:t>THE BANRAI SHARED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800600"/>
            <a:ext cx="4023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000" b="1">
                <a:solidFill>
                  <a:srgbClr val="F2F5F8"/>
                </a:solidFill>
                <a:latin typeface="Poppins"/>
              </a:defRPr>
            </a:pPr>
            <a:r>
              <a:t>Unified AI + Subscription Backend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257800"/>
            <a:ext cx="4023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Reused across every brand &amp; device—slashing engineering time, initial CapEx, and ongoing maintenance.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80" y="4572000"/>
            <a:ext cx="1783080" cy="14173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6984" y="4736592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50" b="1">
                <a:solidFill>
                  <a:srgbClr val="F2F5F8"/>
                </a:solidFill>
                <a:latin typeface="Poppins"/>
              </a:defRPr>
            </a:pPr>
            <a:r>
              <a:t>Voice &amp; Dialogue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6984" y="5257800"/>
            <a:ext cx="14904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A2B0C4"/>
                </a:solidFill>
                <a:latin typeface="Poppins"/>
              </a:defRPr>
            </a:pPr>
            <a:r>
              <a:t>Low-latency speech, memory &amp; persona orchestration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42632" y="4572000"/>
            <a:ext cx="1783080" cy="14173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88936" y="4736592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50" b="1">
                <a:solidFill>
                  <a:srgbClr val="F2F5F8"/>
                </a:solidFill>
                <a:latin typeface="Poppins"/>
              </a:defRPr>
            </a:pPr>
            <a:r>
              <a:t>Generative Media Pipeline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5257800"/>
            <a:ext cx="14904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A2B0C4"/>
                </a:solidFill>
                <a:latin typeface="Poppins"/>
              </a:defRPr>
            </a:pPr>
            <a:r>
              <a:t>Live image, animation &amp; story synthesis on tap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44584" y="4572000"/>
            <a:ext cx="1783080" cy="14173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90888" y="4736592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50" b="1">
                <a:solidFill>
                  <a:srgbClr val="F2F5F8"/>
                </a:solidFill>
                <a:latin typeface="Poppins"/>
              </a:defRPr>
            </a:pPr>
            <a:r>
              <a:t>Hard-Subscription Billing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90888" y="5257800"/>
            <a:ext cx="14904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A2B0C4"/>
                </a:solidFill>
                <a:latin typeface="Poppins"/>
              </a:defRPr>
            </a:pPr>
            <a:r>
              <a:t>Unified token metering, trial bundling &amp; recurring billing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04 · LAUNCHING DECEMBER 2026 · 1,000 US UNITS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05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Wave 1 Products: On Schedule &amp; Within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Our first two hardware lines hit the US market in Dec 2026 (1,000 units each), tracking at or below our $150K–$200K target.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121408"/>
            <a:ext cx="4709160" cy="2240280"/>
          </a:xfrm>
          <a:prstGeom prst="roundRect">
            <a:avLst>
              <a:gd name="adj" fmla="val 4000"/>
            </a:avLst>
          </a:prstGeom>
          <a:solidFill>
            <a:srgbClr val="0F1522"/>
          </a:solidFill>
          <a:ln w="15875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4388" y="2784348"/>
            <a:ext cx="512064" cy="512064"/>
          </a:xfrm>
          <a:prstGeom prst="ellipse">
            <a:avLst/>
          </a:prstGeom>
          <a:solidFill>
            <a:srgbClr val="172031"/>
          </a:solidFill>
          <a:ln w="1270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4388" y="2802635"/>
            <a:ext cx="512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1600" b="1">
                <a:solidFill>
                  <a:srgbClr val="CAFB5B"/>
                </a:solidFill>
                <a:latin typeface="Poppins"/>
              </a:defRPr>
            </a:pPr>
            <a: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8785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F2F5F8"/>
                </a:solidFill>
                <a:latin typeface="Poppins"/>
              </a:defRPr>
            </a:pPr>
            <a:r>
              <a:t>[ Product Image Placeholder · Magical Photo Frame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6621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00" b="0">
                <a:solidFill>
                  <a:srgbClr val="6C7C94"/>
                </a:solidFill>
                <a:latin typeface="Poppins"/>
              </a:defRPr>
            </a:pPr>
            <a:r>
              <a:t>Drop static or animated concept asset here (16:9 / 4:3)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498848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1A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17136"/>
            <a:ext cx="16367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850" b="1">
                <a:solidFill>
                  <a:srgbClr val="CAFB5B"/>
                </a:solidFill>
                <a:latin typeface="Poppins"/>
              </a:defRPr>
            </a:pPr>
            <a:r>
              <a:t>DEC 2026 · 1,000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28032"/>
            <a:ext cx="4709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700" b="1">
                <a:solidFill>
                  <a:srgbClr val="F2F5F8"/>
                </a:solidFill>
                <a:latin typeface="Poppins"/>
              </a:defRPr>
            </a:pPr>
            <a:r>
              <a:t>Magical Living Photo 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93792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CAFB5B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Harry Potter-Style Portraits: </a:t>
            </a:r>
            <a:r>
              <a:rPr sz="1100" b="0">
                <a:solidFill>
                  <a:srgbClr val="A2B0C4"/>
                </a:solidFill>
                <a:latin typeface="Poppins"/>
              </a:rPr>
              <a:t>Turns a single uploaded photo into living, context-aware animation bundles.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CAFB5B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Presence &amp; Weather Aware: </a:t>
            </a:r>
            <a:r>
              <a:rPr sz="1100" b="0">
                <a:solidFill>
                  <a:srgbClr val="A2B0C4"/>
                </a:solidFill>
                <a:latin typeface="Poppins"/>
              </a:rPr>
              <a:t>Waves hello as you walk by—or opens an umbrella inside the photo when it rains outside.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938528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2121408"/>
            <a:ext cx="4709160" cy="2240280"/>
          </a:xfrm>
          <a:prstGeom prst="roundRect">
            <a:avLst>
              <a:gd name="adj" fmla="val 4000"/>
            </a:avLst>
          </a:prstGeom>
          <a:solidFill>
            <a:srgbClr val="0F1522"/>
          </a:solidFill>
          <a:ln w="15875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72500" y="2784348"/>
            <a:ext cx="512064" cy="512064"/>
          </a:xfrm>
          <a:prstGeom prst="ellipse">
            <a:avLst/>
          </a:prstGeom>
          <a:solidFill>
            <a:srgbClr val="172031"/>
          </a:solidFill>
          <a:ln w="12700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2500" y="2802635"/>
            <a:ext cx="512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1600" b="1">
                <a:solidFill>
                  <a:srgbClr val="A8E6CF"/>
                </a:solidFill>
                <a:latin typeface="Poppins"/>
              </a:defRPr>
            </a:pPr>
            <a:r>
              <a:t>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338785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F2F5F8"/>
                </a:solidFill>
                <a:latin typeface="Poppins"/>
              </a:defRPr>
            </a:pPr>
            <a:r>
              <a:t>[ Product Image Placeholder · Pocket Interactive Bible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6621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00" b="0">
                <a:solidFill>
                  <a:srgbClr val="6C7C94"/>
                </a:solidFill>
                <a:latin typeface="Poppins"/>
              </a:defRPr>
            </a:pPr>
            <a:r>
              <a:t>Drop E-Ink handheld hardware render / photo here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4498848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1A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4517136"/>
            <a:ext cx="16367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850" b="1">
                <a:solidFill>
                  <a:srgbClr val="CAFB5B"/>
                </a:solidFill>
                <a:latin typeface="Poppins"/>
              </a:defRPr>
            </a:pPr>
            <a:r>
              <a:t>DEC 2026 · 1,000 UNITS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828032"/>
            <a:ext cx="4709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700" b="1">
                <a:solidFill>
                  <a:srgbClr val="F2F5F8"/>
                </a:solidFill>
                <a:latin typeface="Poppins"/>
              </a:defRPr>
            </a:pPr>
            <a:r>
              <a:t>Pocket Interactive Bible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193792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A8E6CF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Standalone E-Ink + 4G: </a:t>
            </a:r>
            <a:r>
              <a:rPr sz="1100" b="0">
                <a:solidFill>
                  <a:srgbClr val="A2B0C4"/>
                </a:solidFill>
                <a:latin typeface="Poppins"/>
              </a:rPr>
              <a:t>Dedicated, distraction-free sanctuary with built-in cellular connectivity.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A8E6CF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Trusted Christian Companion: </a:t>
            </a:r>
            <a:r>
              <a:rPr sz="1100" b="0">
                <a:solidFill>
                  <a:srgbClr val="A2B0C4"/>
                </a:solidFill>
                <a:latin typeface="Poppins"/>
              </a:rPr>
              <a:t>Never lectures; deepens faith and Scripture understanding through warm daily dialogue.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05 · H1 2027 PIPELINE · CURRENTLY IN PROTOTYPING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06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Wave 2: Capturing Morning Wonder &amp; Voice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Expanding into new daily rituals—from the moment you wake up to tactile, screen-free voice gaming.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121408"/>
            <a:ext cx="4709160" cy="2240280"/>
          </a:xfrm>
          <a:prstGeom prst="roundRect">
            <a:avLst>
              <a:gd name="adj" fmla="val 4000"/>
            </a:avLst>
          </a:prstGeom>
          <a:solidFill>
            <a:srgbClr val="0F1522"/>
          </a:solidFill>
          <a:ln w="15875">
            <a:solidFill>
              <a:srgbClr val="C7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4388" y="2784348"/>
            <a:ext cx="512064" cy="512064"/>
          </a:xfrm>
          <a:prstGeom prst="ellipse">
            <a:avLst/>
          </a:prstGeom>
          <a:solidFill>
            <a:srgbClr val="172031"/>
          </a:solidFill>
          <a:ln w="12700">
            <a:solidFill>
              <a:srgbClr val="C7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4388" y="2802635"/>
            <a:ext cx="512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1600" b="1">
                <a:solidFill>
                  <a:srgbClr val="C7B9FF"/>
                </a:solidFill>
                <a:latin typeface="Poppins"/>
              </a:defRPr>
            </a:pPr>
            <a: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8785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F2F5F8"/>
                </a:solidFill>
                <a:latin typeface="Poppins"/>
              </a:defRPr>
            </a:pPr>
            <a:r>
              <a:t>[ Product Image Placeholder · Dream Printer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6621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00" b="0">
                <a:solidFill>
                  <a:srgbClr val="6C7C94"/>
                </a:solidFill>
                <a:latin typeface="Poppins"/>
              </a:defRPr>
            </a:pPr>
            <a:r>
              <a:t>Drop bedside alarm-clock form factor &amp; dream diary UI image 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498848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172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17136"/>
            <a:ext cx="18196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850" b="1">
                <a:solidFill>
                  <a:srgbClr val="C7B9FF"/>
                </a:solidFill>
                <a:latin typeface="Poppins"/>
              </a:defRPr>
            </a:pPr>
            <a:r>
              <a:t>H1 2027 · PROTOTYPING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28032"/>
            <a:ext cx="4709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700" b="1">
                <a:solidFill>
                  <a:srgbClr val="F2F5F8"/>
                </a:solidFill>
                <a:latin typeface="Poppins"/>
              </a:defRPr>
            </a:pPr>
            <a:r>
              <a:t>Dream Printer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93792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C7B9FF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One-Press Morning Ritual: </a:t>
            </a:r>
            <a:r>
              <a:rPr sz="1100" b="0">
                <a:solidFill>
                  <a:srgbClr val="A2B0C4"/>
                </a:solidFill>
                <a:latin typeface="Poppins"/>
              </a:rPr>
              <a:t>Wake up, press a button, and speak your dream aloud; generates dream art + audio transcript.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C7B9FF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Living Dream Diary: </a:t>
            </a:r>
            <a:r>
              <a:rPr sz="1100" b="0">
                <a:solidFill>
                  <a:srgbClr val="A2B0C4"/>
                </a:solidFill>
                <a:latin typeface="Poppins"/>
              </a:rPr>
              <a:t>Co-weaves fragments into stories and surfaces hidden threads across past dreams.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938528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2121408"/>
            <a:ext cx="4709160" cy="2240280"/>
          </a:xfrm>
          <a:prstGeom prst="roundRect">
            <a:avLst>
              <a:gd name="adj" fmla="val 4000"/>
            </a:avLst>
          </a:prstGeom>
          <a:solidFill>
            <a:srgbClr val="0F1522"/>
          </a:solidFill>
          <a:ln w="15875">
            <a:solidFill>
              <a:srgbClr val="FDE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72500" y="2784348"/>
            <a:ext cx="512064" cy="512064"/>
          </a:xfrm>
          <a:prstGeom prst="ellipse">
            <a:avLst/>
          </a:prstGeom>
          <a:solidFill>
            <a:srgbClr val="172031"/>
          </a:solidFill>
          <a:ln w="12700">
            <a:solidFill>
              <a:srgbClr val="FDE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2500" y="2802635"/>
            <a:ext cx="512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1600" b="1">
                <a:solidFill>
                  <a:srgbClr val="FDE08D"/>
                </a:solidFill>
                <a:latin typeface="Poppins"/>
              </a:defRPr>
            </a:pPr>
            <a:r>
              <a:t>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338785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F2F5F8"/>
                </a:solidFill>
                <a:latin typeface="Poppins"/>
              </a:defRPr>
            </a:pPr>
            <a:r>
              <a:t>[ Product Image Placeholder · Voice Adventure Walkie-Talkie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6621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00" b="0">
                <a:solidFill>
                  <a:srgbClr val="6C7C94"/>
                </a:solidFill>
                <a:latin typeface="Poppins"/>
              </a:defRPr>
            </a:pPr>
            <a:r>
              <a:t>Drop handheld walkie-talkie gaming hardware image here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4498848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172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4517136"/>
            <a:ext cx="18196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850" b="1">
                <a:solidFill>
                  <a:srgbClr val="FDE08D"/>
                </a:solidFill>
                <a:latin typeface="Poppins"/>
              </a:defRPr>
            </a:pPr>
            <a:r>
              <a:t>H1 2027 · PROTOTYPING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828032"/>
            <a:ext cx="4709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700" b="1">
                <a:solidFill>
                  <a:srgbClr val="F2F5F8"/>
                </a:solidFill>
                <a:latin typeface="Poppins"/>
              </a:defRPr>
            </a:pPr>
            <a:r>
              <a:t>Tactile Voice Gaming Walkie-Talkie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193792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FDE08D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A Stranded Friend on the Line: </a:t>
            </a:r>
            <a:r>
              <a:rPr sz="1100" b="0">
                <a:solidFill>
                  <a:srgbClr val="A2B0C4"/>
                </a:solidFill>
                <a:latin typeface="Poppins"/>
              </a:rPr>
              <a:t>A live character trapped on an alien planet or escape room calls for your help.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900">
                <a:solidFill>
                  <a:srgbClr val="FDE08D"/>
                </a:solidFill>
                <a:latin typeface="Poppins"/>
              </a:rPr>
              <a:t>●  </a:t>
            </a:r>
            <a:r>
              <a:rPr sz="1100" b="1">
                <a:solidFill>
                  <a:srgbClr val="F2F5F8"/>
                </a:solidFill>
                <a:latin typeface="Poppins"/>
              </a:rPr>
              <a:t>100% Voice Co-Op: </a:t>
            </a:r>
            <a:r>
              <a:rPr sz="1100" b="0">
                <a:solidFill>
                  <a:srgbClr val="A2B0C4"/>
                </a:solidFill>
                <a:latin typeface="Poppins"/>
              </a:rPr>
              <a:t>Calm them down, guide exploration, and solve unfolding incidents together to advance.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06 · H1 2027 PIPELINE · CURRENTLY IN PROTOTYPING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07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Wave 2 Spotlight: E-Ink Children’s Story Doodle 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How children should experience AI—long before they even know what 'AI' means.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709160" cy="429768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221284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1A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2231136"/>
            <a:ext cx="191109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850" b="1">
                <a:solidFill>
                  <a:srgbClr val="CAFB5B"/>
                </a:solidFill>
                <a:latin typeface="Poppins"/>
              </a:defRPr>
            </a:pPr>
            <a:r>
              <a:t>H1 2027 ·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3347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2000" b="1">
                <a:solidFill>
                  <a:srgbClr val="F2F5F8"/>
                </a:solidFill>
                <a:latin typeface="Poppins"/>
              </a:defRPr>
            </a:pPr>
            <a:r>
              <a:t>Eye-Friendly E-Ink Doodle Pad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090672"/>
            <a:ext cx="4160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200" b="0">
                <a:solidFill>
                  <a:srgbClr val="A2B0C4"/>
                </a:solidFill>
                <a:latin typeface="Poppins"/>
              </a:defRPr>
            </a:pPr>
            <a:r>
              <a:t>A calm, paper-like canvas that meets every child’s sketch or handwritten curiosity on their own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22191"/>
            <a:ext cx="41605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000"/>
              </a:spcAft>
            </a:pPr>
            <a:r>
              <a:rPr sz="950">
                <a:solidFill>
                  <a:srgbClr val="A8E6CF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Doodle-to-Comic Co-Creation: </a:t>
            </a:r>
            <a:r>
              <a:rPr sz="1150" b="0">
                <a:solidFill>
                  <a:srgbClr val="A2B0C4"/>
                </a:solidFill>
                <a:latin typeface="Poppins"/>
              </a:rPr>
              <a:t>Turns a child’s sketch into the opening scene of a multi-panel comic story—collaborating back and forth.</a:t>
            </a:r>
          </a:p>
          <a:p>
            <a:pPr>
              <a:lnSpc>
                <a:spcPct val="132000"/>
              </a:lnSpc>
              <a:spcAft>
                <a:spcPts val="1000"/>
              </a:spcAft>
            </a:pPr>
            <a:r>
              <a:rPr sz="950">
                <a:solidFill>
                  <a:srgbClr val="A8E6CF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Visual Q&amp;A by Drawing: </a:t>
            </a:r>
            <a:r>
              <a:rPr sz="1150" b="0">
                <a:solidFill>
                  <a:srgbClr val="A2B0C4"/>
                </a:solidFill>
                <a:latin typeface="Poppins"/>
              </a:rPr>
              <a:t>Kids can jot down a question or draw what they’re wondering about and receive a gentle, illustrated answer.</a:t>
            </a:r>
          </a:p>
          <a:p>
            <a:pPr>
              <a:lnSpc>
                <a:spcPct val="132000"/>
              </a:lnSpc>
              <a:spcAft>
                <a:spcPts val="1000"/>
              </a:spcAft>
            </a:pPr>
            <a:r>
              <a:rPr sz="950">
                <a:solidFill>
                  <a:srgbClr val="A8E6CF"/>
                </a:solidFill>
                <a:latin typeface="Poppins"/>
              </a:rPr>
              <a:t>●  </a:t>
            </a:r>
            <a:r>
              <a:rPr sz="1150" b="1">
                <a:solidFill>
                  <a:srgbClr val="F2F5F8"/>
                </a:solidFill>
                <a:latin typeface="Poppins"/>
              </a:rPr>
              <a:t>Screen-Time Without Burnout: </a:t>
            </a:r>
            <a:r>
              <a:rPr sz="1150" b="0">
                <a:solidFill>
                  <a:srgbClr val="A2B0C4"/>
                </a:solidFill>
                <a:latin typeface="Poppins"/>
              </a:rPr>
              <a:t>Glare-free E-Ink hardware built for open-ended imagination, not addictive video loops.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2" y="1965960"/>
            <a:ext cx="5669280" cy="4297680"/>
          </a:xfrm>
          <a:prstGeom prst="roundRect">
            <a:avLst>
              <a:gd name="adj" fmla="val 4000"/>
            </a:avLst>
          </a:prstGeom>
          <a:solidFill>
            <a:srgbClr val="0F1522"/>
          </a:solidFill>
          <a:ln w="15875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3657600"/>
            <a:ext cx="512064" cy="512064"/>
          </a:xfrm>
          <a:prstGeom prst="ellipse">
            <a:avLst/>
          </a:prstGeom>
          <a:solidFill>
            <a:srgbClr val="172031"/>
          </a:solidFill>
          <a:ln w="12700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675888"/>
            <a:ext cx="512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defRPr sz="1600" b="1">
                <a:solidFill>
                  <a:srgbClr val="A8E6CF"/>
                </a:solidFill>
                <a:latin typeface="Poppins"/>
              </a:defRPr>
            </a:pPr>
            <a:r>
              <a:t>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42611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200" b="1">
                <a:solidFill>
                  <a:srgbClr val="F2F5F8"/>
                </a:solidFill>
                <a:latin typeface="Poppins"/>
              </a:defRPr>
            </a:pPr>
            <a:r>
              <a:t>[ Hero Image Placeholder · E-Ink Kids’ Story Doodle Pad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00" b="0">
                <a:solidFill>
                  <a:srgbClr val="6C7C94"/>
                </a:solidFill>
                <a:latin typeface="Poppins"/>
              </a:defRPr>
            </a:pPr>
            <a:r>
              <a:t>Drop large product photo + sample child doodle-to-comic interaction here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07 · THE COMPOUNDING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08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Capturing the Data That Doesn’t Exist on the Internet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Public web data teaches AI how to work. Only our hardware portfolio captures how humans play, wonder, and laugh.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3429000" cy="41605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524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8600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AFB5B"/>
                </a:solidFill>
                <a:latin typeface="Poppins"/>
              </a:defRPr>
            </a:pPr>
            <a:r>
              <a:t>STEP 01 · PORTFOLIO 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5176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F2F5F8"/>
                </a:solidFill>
                <a:latin typeface="Poppins"/>
              </a:defRPr>
            </a:pPr>
            <a:r>
              <a:t>6–10 New Products /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29000"/>
            <a:ext cx="28803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A2B0C4"/>
                </a:solidFill>
                <a:latin typeface="Poppins"/>
              </a:defRPr>
            </a:pPr>
            <a:r>
              <a:t>Backed by a deep backlog of form factors, we launch 6–10 distinct Fun AI devices every year on our shared backend.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1" y="5349240"/>
            <a:ext cx="2916936" cy="50292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5468112"/>
            <a:ext cx="2734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1">
                <a:solidFill>
                  <a:srgbClr val="CAFB5B"/>
                </a:solidFill>
                <a:latin typeface="Poppins"/>
              </a:defRPr>
            </a:pPr>
            <a:r>
              <a:t>Low $150K–$200K CapEx per bet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3429000" cy="41605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5240">
            <a:solidFill>
              <a:srgbClr val="A8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4296" y="228600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A8E6CF"/>
                </a:solidFill>
                <a:latin typeface="Poppins"/>
              </a:defRPr>
            </a:pPr>
            <a:r>
              <a:t>STEP 02 · PROPRIETARY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65176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F2F5F8"/>
                </a:solidFill>
                <a:latin typeface="Poppins"/>
              </a:defRPr>
            </a:pPr>
            <a:r>
              <a:t>Spontaneous Joy &amp; Play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429000"/>
            <a:ext cx="28803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A2B0C4"/>
                </a:solidFill>
                <a:latin typeface="Poppins"/>
              </a:defRPr>
            </a:pPr>
            <a:r>
              <a:t>We capture how people interact with AI when seeking happiness, stories, and companionship—signals absent from the open web.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36008" y="5349240"/>
            <a:ext cx="2916936" cy="50292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27448" y="5468112"/>
            <a:ext cx="2734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1">
                <a:solidFill>
                  <a:srgbClr val="A8E6CF"/>
                </a:solidFill>
                <a:latin typeface="Poppins"/>
              </a:defRPr>
            </a:pPr>
            <a:r>
              <a:t>100% exclusive first-party telemetry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011680"/>
            <a:ext cx="3429000" cy="416052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5240">
            <a:solidFill>
              <a:srgbClr val="C7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228600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7B9FF"/>
                </a:solidFill>
                <a:latin typeface="Poppins"/>
              </a:defRPr>
            </a:pPr>
            <a:r>
              <a:t>STEP 03 · COMPOUNDING 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265176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F2F5F8"/>
                </a:solidFill>
                <a:latin typeface="Poppins"/>
              </a:defRPr>
            </a:pPr>
            <a:r>
              <a:t>The Only Real “Fun AI”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3429000"/>
            <a:ext cx="28803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A2B0C4"/>
                </a:solidFill>
                <a:latin typeface="Poppins"/>
              </a:defRPr>
            </a:pPr>
            <a:r>
              <a:t>Every conversation across every device makes our shared backend wittier, warmer, and more human—widening our moat daily.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38744" y="5349240"/>
            <a:ext cx="2916936" cy="50292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5468112"/>
            <a:ext cx="2734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defRPr sz="1050" b="1">
                <a:solidFill>
                  <a:srgbClr val="C7B9FF"/>
                </a:solidFill>
                <a:latin typeface="Poppins"/>
              </a:defRPr>
            </a:pPr>
            <a:r>
              <a:t>Higher retention &amp; subscription LTV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1000" b="1">
                <a:solidFill>
                  <a:srgbClr val="CAFB5B"/>
                </a:solidFill>
                <a:latin typeface="Poppins"/>
              </a:defRPr>
            </a:pPr>
            <a:r>
              <a:t>08 · THE BANRAI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5560" y="45720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5" name="Oval 4"/>
          <p:cNvSpPr/>
          <p:nvPr/>
        </p:nvSpPr>
        <p:spPr>
          <a:xfrm>
            <a:off x="11292840" y="56692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950" b="0">
                <a:solidFill>
                  <a:srgbClr val="6C7C94"/>
                </a:solidFill>
                <a:latin typeface="Poppins"/>
              </a:defRPr>
            </a:pPr>
            <a:r>
              <a:t>09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4672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2F5F8"/>
                </a:solidFill>
                <a:latin typeface="Poppins"/>
              </a:defRPr>
            </a:pPr>
            <a:r>
              <a:t>Delightfully Useless. Commercially Unstoppable.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50" b="0">
                <a:solidFill>
                  <a:srgbClr val="A2B0C4"/>
                </a:solidFill>
                <a:latin typeface="Poppins"/>
              </a:defRPr>
            </a:pPr>
            <a:r>
              <a:t>A counter-trend consumer AI ecosystem built for recurring subscription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3429000" cy="260604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21284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AFB5B"/>
                </a:solidFill>
                <a:latin typeface="Poppins"/>
              </a:defRPr>
            </a:pPr>
            <a:r>
              <a:t>WHITE-SPACE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54203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600" b="1">
                <a:solidFill>
                  <a:srgbClr val="F2F5F8"/>
                </a:solidFill>
                <a:latin typeface="Poppins"/>
              </a:defRPr>
            </a:pPr>
            <a:r>
              <a:t>Fun AI &gt; Functional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035808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Owning daily consumer joy, imagination, and voice companionship while the rest of tech fights over enterprise tasks.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965960"/>
            <a:ext cx="3429000" cy="260604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21284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A8E6CF"/>
                </a:solidFill>
                <a:latin typeface="Poppins"/>
              </a:defRPr>
            </a:pPr>
            <a:r>
              <a:t>DISCIPLINED HARDWARE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54203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600" b="1">
                <a:solidFill>
                  <a:srgbClr val="F2F5F8"/>
                </a:solidFill>
                <a:latin typeface="Poppins"/>
              </a:defRPr>
            </a:pPr>
            <a:r>
              <a:t>$150K–$200K · &lt; 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35808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1,000 US units launched in under 9 months per product—powered by a single reusable AI + subscription backend.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1965960"/>
            <a:ext cx="3429000" cy="2606040"/>
          </a:xfrm>
          <a:prstGeom prst="roundRect">
            <a:avLst>
              <a:gd name="adj" fmla="val 4000"/>
            </a:avLst>
          </a:prstGeom>
          <a:solidFill>
            <a:srgbClr val="131A29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221284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1">
                <a:solidFill>
                  <a:srgbClr val="C7B9FF"/>
                </a:solidFill>
                <a:latin typeface="Poppins"/>
              </a:defRPr>
            </a:pPr>
            <a:r>
              <a:t>IMMEDIATE US 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54203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600" b="1">
                <a:solidFill>
                  <a:srgbClr val="F2F5F8"/>
                </a:solidFill>
                <a:latin typeface="Poppins"/>
              </a:defRPr>
            </a:pPr>
            <a:r>
              <a:t>2 Launching · 3 Prototyping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3035808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defRPr sz="1150" b="0">
                <a:solidFill>
                  <a:srgbClr val="A2B0C4"/>
                </a:solidFill>
                <a:latin typeface="Poppins"/>
              </a:defRPr>
            </a:pPr>
            <a:r>
              <a:t>Photo Frame &amp; Pocket Bible shipping Dec 2026 (1K units each); Dream Printer, Walkie-Talkie &amp; Doodle Pad in H1 2027.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4632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172031"/>
          </a:solidFill>
          <a:ln w="19050">
            <a:solidFill>
              <a:srgbClr val="CAF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16636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defRPr sz="1500" b="1">
                <a:solidFill>
                  <a:srgbClr val="A2B0C4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23" name="Oval 22"/>
          <p:cNvSpPr/>
          <p:nvPr/>
        </p:nvSpPr>
        <p:spPr>
          <a:xfrm>
            <a:off x="2148839" y="5276088"/>
            <a:ext cx="82296" cy="82296"/>
          </a:xfrm>
          <a:prstGeom prst="ellipse">
            <a:avLst/>
          </a:prstGeom>
          <a:solidFill>
            <a:srgbClr val="CAF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559552"/>
            <a:ext cx="4114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1600" b="1">
                <a:solidFill>
                  <a:srgbClr val="F2F5F8"/>
                </a:solidFill>
                <a:latin typeface="Poppins"/>
              </a:defRPr>
            </a:pPr>
            <a:r>
              <a:t>Make Humans Talk Again.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16636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5000"/>
              </a:lnSpc>
              <a:defRPr sz="1200" b="0">
                <a:solidFill>
                  <a:srgbClr val="A2B0C4"/>
                </a:solidFill>
                <a:latin typeface="Poppins"/>
              </a:defRPr>
            </a:pPr>
            <a:r>
              <a:t>banrai.ai   ·   hello@banrai.ai</a:t>
            </a:r>
            <a:br/>
            <a:r>
              <a:t>Seed+ Investor Presentation · US Consumer AI Ecosystem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