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2544" y="1417320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E6F4C8"/>
          </a:solidFill>
          <a:ln w="12700">
            <a:solidFill>
              <a:srgbClr val="5C8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25696" y="1435608"/>
            <a:ext cx="3328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defRPr sz="950" b="1">
                <a:solidFill>
                  <a:srgbClr val="365C0A"/>
                </a:solidFill>
                <a:latin typeface="Poppins"/>
              </a:defRPr>
            </a:pPr>
            <a:r>
              <a:t>✦  AI-NATIVE CONSUMER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205740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6400" b="1">
                <a:solidFill>
                  <a:srgbClr val="111822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6" name="Oval 5"/>
          <p:cNvSpPr/>
          <p:nvPr/>
        </p:nvSpPr>
        <p:spPr>
          <a:xfrm>
            <a:off x="7470648" y="2441448"/>
            <a:ext cx="329184" cy="329184"/>
          </a:xfrm>
          <a:prstGeom prst="ellipse">
            <a:avLst/>
          </a:prstGeom>
          <a:solidFill>
            <a:srgbClr val="E6F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43800" y="2514600"/>
            <a:ext cx="182880" cy="182880"/>
          </a:xfrm>
          <a:prstGeom prst="ellipse">
            <a:avLst/>
          </a:prstGeom>
          <a:solidFill>
            <a:srgbClr val="CAF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94484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3400" b="1">
                <a:solidFill>
                  <a:srgbClr val="111822"/>
                </a:solidFill>
                <a:latin typeface="Poppins"/>
              </a:defRPr>
            </a:pPr>
            <a:r>
              <a:t>Building the World’s First “Fun AI”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931920"/>
            <a:ext cx="83512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defRPr sz="1500" b="0">
                <a:solidFill>
                  <a:srgbClr val="4A5868"/>
                </a:solidFill>
                <a:latin typeface="Poppins"/>
              </a:defRPr>
            </a:pPr>
            <a:r>
              <a:t>Delightfully non-functional, AI-native consumer electronics for everyday joy.</a:t>
            </a:r>
            <a:br/>
            <a:r>
              <a:t>Guided by one quiet conviction: Make Humans Talk Again.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5166360"/>
            <a:ext cx="30632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35608" y="5321808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200" b="1">
                <a:solidFill>
                  <a:srgbClr val="5C8E12"/>
                </a:solidFill>
                <a:latin typeface="Poppins"/>
              </a:defRPr>
            </a:pPr>
            <a:r>
              <a:t>100% Subscription-Native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5650992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050" b="0">
                <a:solidFill>
                  <a:srgbClr val="4A5868"/>
                </a:solidFill>
                <a:latin typeface="Poppins"/>
              </a:defRPr>
            </a:pPr>
            <a:r>
              <a:t>SaaS economics on physical hardware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5166360"/>
            <a:ext cx="30632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5321808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200" b="1">
                <a:solidFill>
                  <a:srgbClr val="5C8E12"/>
                </a:solidFill>
                <a:latin typeface="Poppins"/>
              </a:defRPr>
            </a:pPr>
            <a:r>
              <a:t>&lt; 9 Months · $150K–$200K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5650992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050" b="0">
                <a:solidFill>
                  <a:srgbClr val="4A5868"/>
                </a:solidFill>
                <a:latin typeface="Poppins"/>
              </a:defRPr>
            </a:pPr>
            <a:r>
              <a:t>Concept to first 1,000 US units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5166360"/>
            <a:ext cx="30632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8" y="5321808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200" b="1">
                <a:solidFill>
                  <a:srgbClr val="5C8E12"/>
                </a:solidFill>
                <a:latin typeface="Poppins"/>
              </a:defRPr>
            </a:pPr>
            <a:r>
              <a:t>6–10 Products /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5650992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050" b="0">
                <a:solidFill>
                  <a:srgbClr val="4A5868"/>
                </a:solidFill>
                <a:latin typeface="Poppins"/>
              </a:defRPr>
            </a:pPr>
            <a:r>
              <a:t>Multi-brand portfolio on one backend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00" b="1">
                <a:solidFill>
                  <a:srgbClr val="5C8E12"/>
                </a:solidFill>
                <a:latin typeface="Poppins"/>
              </a:defRPr>
            </a:pPr>
            <a:r>
              <a:t>01 · THE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57200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1500" b="1">
                <a:solidFill>
                  <a:srgbClr val="4A5868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5" name="Oval 4"/>
          <p:cNvSpPr/>
          <p:nvPr/>
        </p:nvSpPr>
        <p:spPr>
          <a:xfrm>
            <a:off x="11292840" y="566928"/>
            <a:ext cx="82296" cy="82296"/>
          </a:xfrm>
          <a:prstGeom prst="ellipse">
            <a:avLst/>
          </a:prstGeom>
          <a:solidFill>
            <a:srgbClr val="CAF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950" b="0">
                <a:solidFill>
                  <a:srgbClr val="7C8A98"/>
                </a:solidFill>
                <a:latin typeface="Poppins"/>
              </a:defRPr>
            </a:pPr>
            <a:r>
              <a:t>02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04672"/>
            <a:ext cx="9875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111822"/>
                </a:solidFill>
                <a:latin typeface="Poppins"/>
              </a:defRPr>
            </a:pPr>
            <a:r>
              <a:t>Everyone Is Building Functional AI. We Build Fun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533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350" b="0">
                <a:solidFill>
                  <a:srgbClr val="4A5868"/>
                </a:solidFill>
                <a:latin typeface="Poppins"/>
              </a:defRPr>
            </a:pPr>
            <a:r>
              <a:t>In a sense, we are building the most 'useless' AI in the world—because human life isn’t a productivity spreadsheet.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11680"/>
            <a:ext cx="5074920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228600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0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304288"/>
            <a:ext cx="20025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defRPr sz="900" b="1">
                <a:solidFill>
                  <a:srgbClr val="7C8A98"/>
                </a:solidFill>
                <a:latin typeface="Poppins"/>
              </a:defRPr>
            </a:pPr>
            <a:r>
              <a:t>THE INDUSTRY CROWD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24912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2200" b="1">
                <a:solidFill>
                  <a:srgbClr val="4A5868"/>
                </a:solidFill>
                <a:latin typeface="Poppins"/>
              </a:defRPr>
            </a:pPr>
            <a:r>
              <a:t>Functional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46120"/>
            <a:ext cx="4434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200"/>
              </a:spcAft>
            </a:pPr>
            <a:r>
              <a:rPr sz="1000">
                <a:solidFill>
                  <a:srgbClr val="7C8A98"/>
                </a:solidFill>
                <a:latin typeface="Poppins"/>
              </a:rPr>
              <a:t>●  </a:t>
            </a:r>
            <a:r>
              <a:rPr sz="1200" b="1">
                <a:solidFill>
                  <a:srgbClr val="111822"/>
                </a:solidFill>
                <a:latin typeface="Poppins"/>
              </a:rPr>
              <a:t>Task-Obsessed: </a:t>
            </a:r>
            <a:r>
              <a:rPr sz="1200" b="0">
                <a:solidFill>
                  <a:srgbClr val="4A5868"/>
                </a:solidFill>
                <a:latin typeface="Poppins"/>
              </a:rPr>
              <a:t>Built to write emails, summarize meetings, and shave seconds off workflows.</a:t>
            </a:r>
          </a:p>
          <a:p>
            <a:pPr>
              <a:lnSpc>
                <a:spcPct val="132000"/>
              </a:lnSpc>
              <a:spcAft>
                <a:spcPts val="1200"/>
              </a:spcAft>
            </a:pPr>
            <a:r>
              <a:rPr sz="1000">
                <a:solidFill>
                  <a:srgbClr val="7C8A98"/>
                </a:solidFill>
                <a:latin typeface="Poppins"/>
              </a:rPr>
              <a:t>●  </a:t>
            </a:r>
            <a:r>
              <a:rPr sz="1200" b="1">
                <a:solidFill>
                  <a:srgbClr val="111822"/>
                </a:solidFill>
                <a:latin typeface="Poppins"/>
              </a:rPr>
              <a:t>Utility Mindset: </a:t>
            </a:r>
            <a:r>
              <a:rPr sz="1200" b="0">
                <a:solidFill>
                  <a:srgbClr val="4A5868"/>
                </a:solidFill>
                <a:latin typeface="Poppins"/>
              </a:rPr>
              <a:t>Users only engage when they have a chore or work problem to solve.</a:t>
            </a:r>
          </a:p>
          <a:p>
            <a:pPr>
              <a:lnSpc>
                <a:spcPct val="132000"/>
              </a:lnSpc>
              <a:spcAft>
                <a:spcPts val="1200"/>
              </a:spcAft>
            </a:pPr>
            <a:r>
              <a:rPr sz="1000">
                <a:solidFill>
                  <a:srgbClr val="7C8A98"/>
                </a:solidFill>
                <a:latin typeface="Poppins"/>
              </a:rPr>
              <a:t>●  </a:t>
            </a:r>
            <a:r>
              <a:rPr sz="1200" b="1">
                <a:solidFill>
                  <a:srgbClr val="111822"/>
                </a:solidFill>
                <a:latin typeface="Poppins"/>
              </a:rPr>
              <a:t>Commoditized Race: </a:t>
            </a:r>
            <a:r>
              <a:rPr sz="1200" b="0">
                <a:solidFill>
                  <a:srgbClr val="4A5868"/>
                </a:solidFill>
                <a:latin typeface="Poppins"/>
              </a:rPr>
              <a:t>Competing head-on with tech giants on raw benchmark utility.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011680"/>
            <a:ext cx="5239512" cy="3337560"/>
          </a:xfrm>
          <a:prstGeom prst="roundRect">
            <a:avLst>
              <a:gd name="adj" fmla="val 4000"/>
            </a:avLst>
          </a:prstGeom>
          <a:solidFill>
            <a:srgbClr val="F0F4EF"/>
          </a:solidFill>
          <a:ln w="19050">
            <a:solidFill>
              <a:srgbClr val="5C8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22860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6F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304288"/>
            <a:ext cx="186537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defRPr sz="900" b="1">
                <a:solidFill>
                  <a:srgbClr val="365C0A"/>
                </a:solidFill>
                <a:latin typeface="Poppins"/>
              </a:defRPr>
            </a:pPr>
            <a:r>
              <a:t>✦  OUR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2491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2200" b="1">
                <a:solidFill>
                  <a:srgbClr val="111822"/>
                </a:solidFill>
                <a:latin typeface="Poppins"/>
              </a:defRPr>
            </a:pPr>
            <a:r>
              <a:t>Fun AI (Delightfully “Useless”)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461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200"/>
              </a:spcAft>
            </a:pPr>
            <a:r>
              <a:rPr sz="1000">
                <a:solidFill>
                  <a:srgbClr val="5C8E12"/>
                </a:solidFill>
                <a:latin typeface="Poppins"/>
              </a:rPr>
              <a:t>●  </a:t>
            </a:r>
            <a:r>
              <a:rPr sz="1200" b="1">
                <a:solidFill>
                  <a:srgbClr val="111822"/>
                </a:solidFill>
                <a:latin typeface="Poppins"/>
              </a:rPr>
              <a:t>Joy &amp; Curiosity First: </a:t>
            </a:r>
            <a:r>
              <a:rPr sz="1200" b="0">
                <a:solidFill>
                  <a:srgbClr val="4A5868"/>
                </a:solidFill>
                <a:latin typeface="Poppins"/>
              </a:rPr>
              <a:t>Built for moments of wonder, play, storytelling, and emotional warmth.</a:t>
            </a:r>
          </a:p>
          <a:p>
            <a:pPr>
              <a:lnSpc>
                <a:spcPct val="132000"/>
              </a:lnSpc>
              <a:spcAft>
                <a:spcPts val="1200"/>
              </a:spcAft>
            </a:pPr>
            <a:r>
              <a:rPr sz="1000">
                <a:solidFill>
                  <a:srgbClr val="5C8E12"/>
                </a:solidFill>
                <a:latin typeface="Poppins"/>
              </a:rPr>
              <a:t>●  </a:t>
            </a:r>
            <a:r>
              <a:rPr sz="1200" b="1">
                <a:solidFill>
                  <a:srgbClr val="111822"/>
                </a:solidFill>
                <a:latin typeface="Poppins"/>
              </a:rPr>
              <a:t>Ambient Daily Presence: </a:t>
            </a:r>
            <a:r>
              <a:rPr sz="1200" b="0">
                <a:solidFill>
                  <a:srgbClr val="4A5868"/>
                </a:solidFill>
                <a:latin typeface="Poppins"/>
              </a:rPr>
              <a:t>Lives across diverse brands &amp; tactile form factors in everyday life.</a:t>
            </a:r>
          </a:p>
          <a:p>
            <a:pPr>
              <a:lnSpc>
                <a:spcPct val="132000"/>
              </a:lnSpc>
              <a:spcAft>
                <a:spcPts val="1200"/>
              </a:spcAft>
            </a:pPr>
            <a:r>
              <a:rPr sz="1000">
                <a:solidFill>
                  <a:srgbClr val="5C8E12"/>
                </a:solidFill>
                <a:latin typeface="Poppins"/>
              </a:rPr>
              <a:t>●  </a:t>
            </a:r>
            <a:r>
              <a:rPr sz="1200" b="1">
                <a:solidFill>
                  <a:srgbClr val="111822"/>
                </a:solidFill>
                <a:latin typeface="Poppins"/>
              </a:rPr>
              <a:t>Zero Utility Pressure: </a:t>
            </a:r>
            <a:r>
              <a:rPr sz="1200" b="0">
                <a:solidFill>
                  <a:srgbClr val="4A5868"/>
                </a:solidFill>
                <a:latin typeface="Poppins"/>
              </a:rPr>
              <a:t>No tasks to optimize—just companions that spark smiles and dialogue.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532120"/>
            <a:ext cx="10634472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6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650992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000" b="1">
                <a:solidFill>
                  <a:srgbClr val="268466"/>
                </a:solidFill>
                <a:latin typeface="Poppins"/>
              </a:defRPr>
            </a:pPr>
            <a:r>
              <a:t>UNIFYING THEME 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85216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400" b="1">
                <a:solidFill>
                  <a:srgbClr val="111822"/>
                </a:solidFill>
                <a:latin typeface="Poppins"/>
              </a:defRPr>
            </a:pPr>
            <a:r>
              <a:t>“Make Humans Talk Again”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669280"/>
            <a:ext cx="6949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defRPr sz="1150" b="0">
                <a:solidFill>
                  <a:srgbClr val="4A5868"/>
                </a:solidFill>
                <a:latin typeface="Poppins"/>
              </a:defRPr>
            </a:pPr>
            <a:r>
              <a:t>After a decade of passive smartphone scrolling, our unifying theme inspires active voice, curiosity, and conversation—while letting every product share a single conversational AI backend.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00" b="1">
                <a:solidFill>
                  <a:srgbClr val="5C8E12"/>
                </a:solidFill>
                <a:latin typeface="Poppins"/>
              </a:defRPr>
            </a:pPr>
            <a:r>
              <a:t>02 ·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57200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1500" b="1">
                <a:solidFill>
                  <a:srgbClr val="4A5868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5" name="Oval 4"/>
          <p:cNvSpPr/>
          <p:nvPr/>
        </p:nvSpPr>
        <p:spPr>
          <a:xfrm>
            <a:off x="11292840" y="566928"/>
            <a:ext cx="82296" cy="82296"/>
          </a:xfrm>
          <a:prstGeom prst="ellipse">
            <a:avLst/>
          </a:prstGeom>
          <a:solidFill>
            <a:srgbClr val="CAF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950" b="0">
                <a:solidFill>
                  <a:srgbClr val="7C8A98"/>
                </a:solidFill>
                <a:latin typeface="Poppins"/>
              </a:defRPr>
            </a:pPr>
            <a:r>
              <a:t>03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04672"/>
            <a:ext cx="9875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111822"/>
                </a:solidFill>
                <a:latin typeface="Poppins"/>
              </a:defRPr>
            </a:pPr>
            <a:r>
              <a:t>Hardware as the Vessel. SaaS as the Engine.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533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350" b="0">
                <a:solidFill>
                  <a:srgbClr val="4A5868"/>
                </a:solidFill>
                <a:latin typeface="Poppins"/>
              </a:defRPr>
            </a:pPr>
            <a:r>
              <a:t>Because our products are truly AI-native and consume live tokens, every device operates on a hard monthly subscription.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507492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500" b="1">
                <a:solidFill>
                  <a:srgbClr val="4A5868"/>
                </a:solidFill>
                <a:latin typeface="Poppins"/>
              </a:defRPr>
            </a:pPr>
            <a:r>
              <a:t>Traditional Consumer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42032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800"/>
              </a:spcAft>
            </a:pPr>
            <a:r>
              <a:rPr sz="950">
                <a:solidFill>
                  <a:srgbClr val="7C8A98"/>
                </a:solidFill>
                <a:latin typeface="Poppins"/>
              </a:rPr>
              <a:t>●  </a:t>
            </a:r>
            <a:r>
              <a:rPr sz="1150" b="1">
                <a:solidFill>
                  <a:srgbClr val="111822"/>
                </a:solidFill>
                <a:latin typeface="Poppins"/>
              </a:rPr>
              <a:t>One-Time Margin: </a:t>
            </a:r>
            <a:r>
              <a:rPr sz="1150" b="0">
                <a:solidFill>
                  <a:srgbClr val="4A5868"/>
                </a:solidFill>
                <a:latin typeface="Poppins"/>
              </a:rPr>
              <a:t>Profit stops the day the box is sold.</a:t>
            </a:r>
          </a:p>
          <a:p>
            <a:pPr>
              <a:lnSpc>
                <a:spcPct val="132000"/>
              </a:lnSpc>
              <a:spcAft>
                <a:spcPts val="800"/>
              </a:spcAft>
            </a:pPr>
            <a:r>
              <a:rPr sz="950">
                <a:solidFill>
                  <a:srgbClr val="7C8A98"/>
                </a:solidFill>
                <a:latin typeface="Poppins"/>
              </a:rPr>
              <a:t>●  </a:t>
            </a:r>
            <a:r>
              <a:rPr sz="1150" b="1">
                <a:solidFill>
                  <a:srgbClr val="111822"/>
                </a:solidFill>
                <a:latin typeface="Poppins"/>
              </a:rPr>
              <a:t>Upgrade Treadmill: </a:t>
            </a:r>
            <a:r>
              <a:rPr sz="1150" b="0">
                <a:solidFill>
                  <a:srgbClr val="4A5868"/>
                </a:solidFill>
                <a:latin typeface="Poppins"/>
              </a:rPr>
              <a:t>Forced to push Gen-2 hardware or chase new unit buyers to survive.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65960"/>
            <a:ext cx="5239512" cy="1783080"/>
          </a:xfrm>
          <a:prstGeom prst="roundRect">
            <a:avLst>
              <a:gd name="adj" fmla="val 4000"/>
            </a:avLst>
          </a:prstGeom>
          <a:solidFill>
            <a:srgbClr val="F0F4EF"/>
          </a:solidFill>
          <a:ln w="19050">
            <a:solidFill>
              <a:srgbClr val="5C8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500" b="1">
                <a:solidFill>
                  <a:srgbClr val="5C8E12"/>
                </a:solidFill>
                <a:latin typeface="Poppins"/>
              </a:defRPr>
            </a:pPr>
            <a:r>
              <a:t>Banrai Hard-Subscription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42032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800"/>
              </a:spcAft>
            </a:pPr>
            <a:r>
              <a:rPr sz="950">
                <a:solidFill>
                  <a:srgbClr val="5C8E12"/>
                </a:solidFill>
                <a:latin typeface="Poppins"/>
              </a:rPr>
              <a:t>●  </a:t>
            </a:r>
            <a:r>
              <a:rPr sz="1150" b="1">
                <a:solidFill>
                  <a:srgbClr val="111822"/>
                </a:solidFill>
                <a:latin typeface="Poppins"/>
              </a:rPr>
              <a:t>No Free Tier: </a:t>
            </a:r>
            <a:r>
              <a:rPr sz="1150" b="0">
                <a:solidFill>
                  <a:srgbClr val="4A5868"/>
                </a:solidFill>
                <a:latin typeface="Poppins"/>
              </a:rPr>
              <a:t>Real token consumption requires sustainable recurring revenue.</a:t>
            </a:r>
          </a:p>
          <a:p>
            <a:pPr>
              <a:lnSpc>
                <a:spcPct val="132000"/>
              </a:lnSpc>
              <a:spcAft>
                <a:spcPts val="800"/>
              </a:spcAft>
            </a:pPr>
            <a:r>
              <a:rPr sz="950">
                <a:solidFill>
                  <a:srgbClr val="5C8E12"/>
                </a:solidFill>
                <a:latin typeface="Poppins"/>
              </a:rPr>
              <a:t>●  </a:t>
            </a:r>
            <a:r>
              <a:rPr sz="1150" b="1">
                <a:solidFill>
                  <a:srgbClr val="111822"/>
                </a:solidFill>
                <a:latin typeface="Poppins"/>
              </a:rPr>
              <a:t>Pure SaaS Alignment: </a:t>
            </a:r>
            <a:r>
              <a:rPr sz="1150" b="0">
                <a:solidFill>
                  <a:srgbClr val="4A5868"/>
                </a:solidFill>
                <a:latin typeface="Poppins"/>
              </a:rPr>
              <a:t>We win by delivering continuous daily delight that retains subscribers.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05072"/>
            <a:ext cx="34290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5C8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4224528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1">
                <a:solidFill>
                  <a:srgbClr val="5C8E12"/>
                </a:solidFill>
                <a:latin typeface="Poppins"/>
              </a:defRPr>
            </a:pPr>
            <a:r>
              <a:t>01 · TACTILE 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4526280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500" b="1">
                <a:solidFill>
                  <a:srgbClr val="111822"/>
                </a:solidFill>
                <a:latin typeface="Poppins"/>
              </a:defRPr>
            </a:pPr>
            <a:r>
              <a:t>Hardware + Bundled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4956048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150" b="0">
                <a:solidFill>
                  <a:srgbClr val="4A5868"/>
                </a:solidFill>
                <a:latin typeface="Poppins"/>
              </a:defRPr>
            </a:pPr>
            <a:r>
              <a:t>Every device ships with several complimentary months of subscription—eliminating friction at first touch.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4005072"/>
            <a:ext cx="34290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26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4224528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1">
                <a:solidFill>
                  <a:srgbClr val="268466"/>
                </a:solidFill>
                <a:latin typeface="Poppins"/>
              </a:defRPr>
            </a:pPr>
            <a:r>
              <a:t>02 · DAILY HABIT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4526280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500" b="1">
                <a:solidFill>
                  <a:srgbClr val="111822"/>
                </a:solidFill>
                <a:latin typeface="Poppins"/>
              </a:defRPr>
            </a:pPr>
            <a:r>
              <a:t>Hard Monthly Subscription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4956048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150" b="0">
                <a:solidFill>
                  <a:srgbClr val="4A5868"/>
                </a:solidFill>
                <a:latin typeface="Poppins"/>
              </a:defRPr>
            </a:pPr>
            <a:r>
              <a:t>To keep the companion alive after the trial period, users subscribe monthly—aligning token costs with high-margin recurring revenue.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82712" y="4005072"/>
            <a:ext cx="34290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6A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8744" y="4224528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1">
                <a:solidFill>
                  <a:srgbClr val="6A52BA"/>
                </a:solidFill>
                <a:latin typeface="Poppins"/>
              </a:defRPr>
            </a:pPr>
            <a:r>
              <a:t>03 · SAAS COMPOUNDING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4526280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500" b="1">
                <a:solidFill>
                  <a:srgbClr val="111822"/>
                </a:solidFill>
                <a:latin typeface="Poppins"/>
              </a:defRPr>
            </a:pPr>
            <a:r>
              <a:t>Continuous Value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4956048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150" b="0">
                <a:solidFill>
                  <a:srgbClr val="4A5868"/>
                </a:solidFill>
                <a:latin typeface="Poppins"/>
              </a:defRPr>
            </a:pPr>
            <a:r>
              <a:t>Instead of pushing hardware replacements, our backend continuously evolves stories, personalities, and experiences.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00" b="1">
                <a:solidFill>
                  <a:srgbClr val="5C8E12"/>
                </a:solidFill>
                <a:latin typeface="Poppins"/>
              </a:defRPr>
            </a:pPr>
            <a:r>
              <a:t>03 · UNFAIR ADVANTAGE &amp;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57200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1500" b="1">
                <a:solidFill>
                  <a:srgbClr val="4A5868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5" name="Oval 4"/>
          <p:cNvSpPr/>
          <p:nvPr/>
        </p:nvSpPr>
        <p:spPr>
          <a:xfrm>
            <a:off x="11292840" y="566928"/>
            <a:ext cx="82296" cy="82296"/>
          </a:xfrm>
          <a:prstGeom prst="ellipse">
            <a:avLst/>
          </a:prstGeom>
          <a:solidFill>
            <a:srgbClr val="CAF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950" b="0">
                <a:solidFill>
                  <a:srgbClr val="7C8A98"/>
                </a:solidFill>
                <a:latin typeface="Poppins"/>
              </a:defRPr>
            </a:pPr>
            <a:r>
              <a:t>04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04672"/>
            <a:ext cx="9875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111822"/>
                </a:solidFill>
                <a:latin typeface="Poppins"/>
              </a:defRPr>
            </a:pPr>
            <a:r>
              <a:t>Many Form Factors. One Unified AI &amp; Subscription 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533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350" b="0">
                <a:solidFill>
                  <a:srgbClr val="4A5868"/>
                </a:solidFill>
                <a:latin typeface="Poppins"/>
              </a:defRPr>
            </a:pPr>
            <a:r>
              <a:t>Single-product hardware startups must sell 10M+ units to win. Our portfolio model wins at 100K+ units per 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2542032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176272"/>
            <a:ext cx="21396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2400" b="1">
                <a:solidFill>
                  <a:srgbClr val="5C8E12"/>
                </a:solidFill>
                <a:latin typeface="Poppins"/>
              </a:defRPr>
            </a:pPr>
            <a:r>
              <a:t>&lt; 9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43200"/>
            <a:ext cx="21396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250" b="1">
                <a:solidFill>
                  <a:srgbClr val="111822"/>
                </a:solidFill>
                <a:latin typeface="Poppins"/>
              </a:defRPr>
            </a:pPr>
            <a:r>
              <a:t>Concept to 1,000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090672"/>
            <a:ext cx="2139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050" b="0">
                <a:solidFill>
                  <a:srgbClr val="4A5868"/>
                </a:solidFill>
                <a:latin typeface="Poppins"/>
              </a:defRPr>
            </a:pPr>
            <a:r>
              <a:t>Total cycle from initial idea to first 1,000 units landing in the 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965960"/>
            <a:ext cx="2542032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176272"/>
            <a:ext cx="21396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2400" b="1">
                <a:solidFill>
                  <a:srgbClr val="268466"/>
                </a:solidFill>
                <a:latin typeface="Poppins"/>
              </a:defRPr>
            </a:pPr>
            <a:r>
              <a:t>$150K–$200K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743200"/>
            <a:ext cx="21396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250" b="1">
                <a:solidFill>
                  <a:srgbClr val="111822"/>
                </a:solidFill>
                <a:latin typeface="Poppins"/>
              </a:defRPr>
            </a:pPr>
            <a:r>
              <a:t>All-In Launch CapEx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3090672"/>
            <a:ext cx="2139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050" b="0">
                <a:solidFill>
                  <a:srgbClr val="4A5868"/>
                </a:solidFill>
                <a:latin typeface="Poppins"/>
              </a:defRPr>
            </a:pPr>
            <a:r>
              <a:t>Total R&amp;D + tooling + COGS for the first 1,000 US units per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965960"/>
            <a:ext cx="2542032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176272"/>
            <a:ext cx="21396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2400" b="1">
                <a:solidFill>
                  <a:srgbClr val="6A52BA"/>
                </a:solidFill>
                <a:latin typeface="Poppins"/>
              </a:defRPr>
            </a:pPr>
            <a:r>
              <a:t>100K+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743200"/>
            <a:ext cx="21396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250" b="1">
                <a:solidFill>
                  <a:srgbClr val="111822"/>
                </a:solidFill>
                <a:latin typeface="Poppins"/>
              </a:defRPr>
            </a:pPr>
            <a:r>
              <a:t>Success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090672"/>
            <a:ext cx="2139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050" b="0">
                <a:solidFill>
                  <a:srgbClr val="4A5868"/>
                </a:solidFill>
                <a:latin typeface="Poppins"/>
              </a:defRPr>
            </a:pPr>
            <a:r>
              <a:t>Profitable scale per product line—no 10M-unit single-product gamble.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965960"/>
            <a:ext cx="2542032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848" y="2176272"/>
            <a:ext cx="21396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2400" b="1">
                <a:solidFill>
                  <a:srgbClr val="B47618"/>
                </a:solidFill>
                <a:latin typeface="Poppins"/>
              </a:defRPr>
            </a:pPr>
            <a:r>
              <a:t>100% US 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2743200"/>
            <a:ext cx="21396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250" b="1">
                <a:solidFill>
                  <a:srgbClr val="111822"/>
                </a:solidFill>
                <a:latin typeface="Poppins"/>
              </a:defRPr>
            </a:pPr>
            <a:r>
              <a:t>Focused Go-To-Market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3090672"/>
            <a:ext cx="2139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050" b="0">
                <a:solidFill>
                  <a:srgbClr val="4A5868"/>
                </a:solidFill>
                <a:latin typeface="Poppins"/>
              </a:defRPr>
            </a:pPr>
            <a:r>
              <a:t>Exclusively built and launched for US consumers with high subscription LTV.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315968"/>
            <a:ext cx="10634472" cy="1920240"/>
          </a:xfrm>
          <a:prstGeom prst="roundRect">
            <a:avLst>
              <a:gd name="adj" fmla="val 4000"/>
            </a:avLst>
          </a:prstGeom>
          <a:solidFill>
            <a:srgbClr val="F0F4EF"/>
          </a:solidFill>
          <a:ln w="15875">
            <a:solidFill>
              <a:srgbClr val="5C8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52628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050" b="1">
                <a:solidFill>
                  <a:srgbClr val="5C8E12"/>
                </a:solidFill>
                <a:latin typeface="Poppins"/>
              </a:defRPr>
            </a:pPr>
            <a:r>
              <a:t>THE BANRAI SHARED 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800600"/>
            <a:ext cx="4023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2000" b="1">
                <a:solidFill>
                  <a:srgbClr val="111822"/>
                </a:solidFill>
                <a:latin typeface="Poppins"/>
              </a:defRPr>
            </a:pPr>
            <a:r>
              <a:t>Unified AI + Subscription 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257800"/>
            <a:ext cx="4023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defRPr sz="1150" b="0">
                <a:solidFill>
                  <a:srgbClr val="4A5868"/>
                </a:solidFill>
                <a:latin typeface="Poppins"/>
              </a:defRPr>
            </a:pPr>
            <a:r>
              <a:t>Reused across every brand &amp; device—slashing engineering time, initial CapEx, and ongoing maintenance.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40680" y="4572000"/>
            <a:ext cx="17830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4" y="4736592"/>
            <a:ext cx="1490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1">
                <a:solidFill>
                  <a:srgbClr val="111822"/>
                </a:solidFill>
                <a:latin typeface="Poppins"/>
              </a:defRPr>
            </a:pPr>
            <a:r>
              <a:t>Voice &amp; Dialogue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6984" y="5257800"/>
            <a:ext cx="149047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0">
                <a:solidFill>
                  <a:srgbClr val="4A5868"/>
                </a:solidFill>
                <a:latin typeface="Poppins"/>
              </a:defRPr>
            </a:pPr>
            <a:r>
              <a:t>Low-latency speech, memory &amp; persona orchestration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42632" y="4572000"/>
            <a:ext cx="17830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88936" y="4736592"/>
            <a:ext cx="1490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1">
                <a:solidFill>
                  <a:srgbClr val="111822"/>
                </a:solidFill>
                <a:latin typeface="Poppins"/>
              </a:defRPr>
            </a:pPr>
            <a:r>
              <a:t>Generative Media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5257800"/>
            <a:ext cx="149047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0">
                <a:solidFill>
                  <a:srgbClr val="4A5868"/>
                </a:solidFill>
                <a:latin typeface="Poppins"/>
              </a:defRPr>
            </a:pPr>
            <a:r>
              <a:t>Live image, animation &amp; story synthesis on tap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44584" y="4572000"/>
            <a:ext cx="17830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0888" y="4736592"/>
            <a:ext cx="1490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1">
                <a:solidFill>
                  <a:srgbClr val="111822"/>
                </a:solidFill>
                <a:latin typeface="Poppins"/>
              </a:defRPr>
            </a:pPr>
            <a:r>
              <a:t>Hard-Subscription Billing 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90888" y="5257800"/>
            <a:ext cx="149047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0">
                <a:solidFill>
                  <a:srgbClr val="4A5868"/>
                </a:solidFill>
                <a:latin typeface="Poppins"/>
              </a:defRPr>
            </a:pPr>
            <a:r>
              <a:t>Unified token metering, trial bundling &amp; recurring billing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00" b="1">
                <a:solidFill>
                  <a:srgbClr val="5C8E12"/>
                </a:solidFill>
                <a:latin typeface="Poppins"/>
              </a:defRPr>
            </a:pPr>
            <a:r>
              <a:t>04 · LAUNCHING DECEMBER 2026 · 1,000 US UNITS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57200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1500" b="1">
                <a:solidFill>
                  <a:srgbClr val="4A5868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5" name="Oval 4"/>
          <p:cNvSpPr/>
          <p:nvPr/>
        </p:nvSpPr>
        <p:spPr>
          <a:xfrm>
            <a:off x="11292840" y="566928"/>
            <a:ext cx="82296" cy="82296"/>
          </a:xfrm>
          <a:prstGeom prst="ellipse">
            <a:avLst/>
          </a:prstGeom>
          <a:solidFill>
            <a:srgbClr val="CAF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950" b="0">
                <a:solidFill>
                  <a:srgbClr val="7C8A98"/>
                </a:solidFill>
                <a:latin typeface="Poppins"/>
              </a:defRPr>
            </a:pPr>
            <a:r>
              <a:t>05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04672"/>
            <a:ext cx="9875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111822"/>
                </a:solidFill>
                <a:latin typeface="Poppins"/>
              </a:defRPr>
            </a:pPr>
            <a:r>
              <a:t>Wave 1 Products: On Schedule &amp; Within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533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350" b="0">
                <a:solidFill>
                  <a:srgbClr val="4A5868"/>
                </a:solidFill>
                <a:latin typeface="Poppins"/>
              </a:defRPr>
            </a:pPr>
            <a:r>
              <a:t>Our first two hardware lines hit the US market in Dec 2026 (1,000 units each), tracking at or below our $150K–$200K 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38528"/>
            <a:ext cx="516636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121408"/>
            <a:ext cx="4709160" cy="2240280"/>
          </a:xfrm>
          <a:prstGeom prst="roundRect">
            <a:avLst>
              <a:gd name="adj" fmla="val 4000"/>
            </a:avLst>
          </a:prstGeom>
          <a:solidFill>
            <a:srgbClr val="EDF2EE"/>
          </a:solidFill>
          <a:ln w="15875">
            <a:solidFill>
              <a:srgbClr val="5C8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4388" y="2784348"/>
            <a:ext cx="512064" cy="512064"/>
          </a:xfrm>
          <a:prstGeom prst="ellipse">
            <a:avLst/>
          </a:prstGeom>
          <a:solidFill>
            <a:srgbClr val="F0F4EF"/>
          </a:solidFill>
          <a:ln w="12700">
            <a:solidFill>
              <a:srgbClr val="5C8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4388" y="2802635"/>
            <a:ext cx="512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defRPr sz="1600" b="1">
                <a:solidFill>
                  <a:srgbClr val="5C8E12"/>
                </a:solidFill>
                <a:latin typeface="Poppins"/>
              </a:defRPr>
            </a:pPr>
            <a: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87851"/>
            <a:ext cx="4160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200" b="1">
                <a:solidFill>
                  <a:srgbClr val="111822"/>
                </a:solidFill>
                <a:latin typeface="Poppins"/>
              </a:defRPr>
            </a:pPr>
            <a:r>
              <a:t>[ Product Image Placeholder · Magical Photo Frame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6217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000" b="0">
                <a:solidFill>
                  <a:srgbClr val="7C8A98"/>
                </a:solidFill>
                <a:latin typeface="Poppins"/>
              </a:defRPr>
            </a:pPr>
            <a:r>
              <a:t>Drop static or animated concept asset here (16:9 / 4:3)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498848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E6F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517136"/>
            <a:ext cx="163677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defRPr sz="850" b="1">
                <a:solidFill>
                  <a:srgbClr val="365C0A"/>
                </a:solidFill>
                <a:latin typeface="Poppins"/>
              </a:defRPr>
            </a:pPr>
            <a:r>
              <a:t>DEC 2026 · 1,000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28032"/>
            <a:ext cx="4709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700" b="1">
                <a:solidFill>
                  <a:srgbClr val="111822"/>
                </a:solidFill>
                <a:latin typeface="Poppins"/>
              </a:defRPr>
            </a:pPr>
            <a:r>
              <a:t>Magical Living Photo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93792"/>
            <a:ext cx="4709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900">
                <a:solidFill>
                  <a:srgbClr val="5C8E12"/>
                </a:solidFill>
                <a:latin typeface="Poppins"/>
              </a:rPr>
              <a:t>●  </a:t>
            </a:r>
            <a:r>
              <a:rPr sz="1100" b="1">
                <a:solidFill>
                  <a:srgbClr val="111822"/>
                </a:solidFill>
                <a:latin typeface="Poppins"/>
              </a:rPr>
              <a:t>Harry Potter-Style Portraits: </a:t>
            </a:r>
            <a:r>
              <a:rPr sz="1100" b="0">
                <a:solidFill>
                  <a:srgbClr val="4A5868"/>
                </a:solidFill>
                <a:latin typeface="Poppins"/>
              </a:rPr>
              <a:t>Turns a single uploaded photo into living, context-aware animation bundles.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900">
                <a:solidFill>
                  <a:srgbClr val="5C8E12"/>
                </a:solidFill>
                <a:latin typeface="Poppins"/>
              </a:rPr>
              <a:t>●  </a:t>
            </a:r>
            <a:r>
              <a:rPr sz="1100" b="1">
                <a:solidFill>
                  <a:srgbClr val="111822"/>
                </a:solidFill>
                <a:latin typeface="Poppins"/>
              </a:rPr>
              <a:t>Presence &amp; Weather Aware: </a:t>
            </a:r>
            <a:r>
              <a:rPr sz="1100" b="0">
                <a:solidFill>
                  <a:srgbClr val="4A5868"/>
                </a:solidFill>
                <a:latin typeface="Poppins"/>
              </a:rPr>
              <a:t>Waves hello as you walk by—or opens an umbrella inside the photo when it rains outside.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1938528"/>
            <a:ext cx="516636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73952" y="2121408"/>
            <a:ext cx="4709160" cy="2240280"/>
          </a:xfrm>
          <a:prstGeom prst="roundRect">
            <a:avLst>
              <a:gd name="adj" fmla="val 4000"/>
            </a:avLst>
          </a:prstGeom>
          <a:solidFill>
            <a:srgbClr val="EDF2EE"/>
          </a:solidFill>
          <a:ln w="15875">
            <a:solidFill>
              <a:srgbClr val="26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72500" y="2784348"/>
            <a:ext cx="512064" cy="512064"/>
          </a:xfrm>
          <a:prstGeom prst="ellipse">
            <a:avLst/>
          </a:prstGeom>
          <a:solidFill>
            <a:srgbClr val="F0F4EF"/>
          </a:solidFill>
          <a:ln w="12700">
            <a:solidFill>
              <a:srgbClr val="26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500" y="2802635"/>
            <a:ext cx="512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defRPr sz="1600" b="1">
                <a:solidFill>
                  <a:srgbClr val="268466"/>
                </a:solidFill>
                <a:latin typeface="Poppins"/>
              </a:defRPr>
            </a:pPr>
            <a: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3387851"/>
            <a:ext cx="4160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200" b="1">
                <a:solidFill>
                  <a:srgbClr val="111822"/>
                </a:solidFill>
                <a:latin typeface="Poppins"/>
              </a:defRPr>
            </a:pPr>
            <a:r>
              <a:t>[ Product Image Placeholder · Pocket Interactive Bible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66217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000" b="0">
                <a:solidFill>
                  <a:srgbClr val="7C8A98"/>
                </a:solidFill>
                <a:latin typeface="Poppins"/>
              </a:defRPr>
            </a:pPr>
            <a:r>
              <a:t>Drop E-Ink handheld hardware render / photo here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4498848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E6F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4517136"/>
            <a:ext cx="163677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defRPr sz="850" b="1">
                <a:solidFill>
                  <a:srgbClr val="365C0A"/>
                </a:solidFill>
                <a:latin typeface="Poppins"/>
              </a:defRPr>
            </a:pPr>
            <a:r>
              <a:t>DEC 2026 · 1,000 UNITS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828032"/>
            <a:ext cx="4709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700" b="1">
                <a:solidFill>
                  <a:srgbClr val="111822"/>
                </a:solidFill>
                <a:latin typeface="Poppins"/>
              </a:defRPr>
            </a:pPr>
            <a:r>
              <a:t>Pocket Interactive Bible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193792"/>
            <a:ext cx="4709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900">
                <a:solidFill>
                  <a:srgbClr val="268466"/>
                </a:solidFill>
                <a:latin typeface="Poppins"/>
              </a:rPr>
              <a:t>●  </a:t>
            </a:r>
            <a:r>
              <a:rPr sz="1100" b="1">
                <a:solidFill>
                  <a:srgbClr val="111822"/>
                </a:solidFill>
                <a:latin typeface="Poppins"/>
              </a:rPr>
              <a:t>Standalone E-Ink + 4G: </a:t>
            </a:r>
            <a:r>
              <a:rPr sz="1100" b="0">
                <a:solidFill>
                  <a:srgbClr val="4A5868"/>
                </a:solidFill>
                <a:latin typeface="Poppins"/>
              </a:rPr>
              <a:t>Dedicated, distraction-free sanctuary with built-in cellular connectivity.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900">
                <a:solidFill>
                  <a:srgbClr val="268466"/>
                </a:solidFill>
                <a:latin typeface="Poppins"/>
              </a:rPr>
              <a:t>●  </a:t>
            </a:r>
            <a:r>
              <a:rPr sz="1100" b="1">
                <a:solidFill>
                  <a:srgbClr val="111822"/>
                </a:solidFill>
                <a:latin typeface="Poppins"/>
              </a:rPr>
              <a:t>Trusted Christian Companion: </a:t>
            </a:r>
            <a:r>
              <a:rPr sz="1100" b="0">
                <a:solidFill>
                  <a:srgbClr val="4A5868"/>
                </a:solidFill>
                <a:latin typeface="Poppins"/>
              </a:rPr>
              <a:t>Never lectures; deepens faith and Scripture understanding through warm daily dialogue.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00" b="1">
                <a:solidFill>
                  <a:srgbClr val="5C8E12"/>
                </a:solidFill>
                <a:latin typeface="Poppins"/>
              </a:defRPr>
            </a:pPr>
            <a:r>
              <a:t>05 · H1 2027 PIPELINE · CURRENTLY IN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57200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1500" b="1">
                <a:solidFill>
                  <a:srgbClr val="4A5868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5" name="Oval 4"/>
          <p:cNvSpPr/>
          <p:nvPr/>
        </p:nvSpPr>
        <p:spPr>
          <a:xfrm>
            <a:off x="11292840" y="566928"/>
            <a:ext cx="82296" cy="82296"/>
          </a:xfrm>
          <a:prstGeom prst="ellipse">
            <a:avLst/>
          </a:prstGeom>
          <a:solidFill>
            <a:srgbClr val="CAF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950" b="0">
                <a:solidFill>
                  <a:srgbClr val="7C8A98"/>
                </a:solidFill>
                <a:latin typeface="Poppins"/>
              </a:defRPr>
            </a:pPr>
            <a:r>
              <a:t>06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04672"/>
            <a:ext cx="9875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111822"/>
                </a:solidFill>
                <a:latin typeface="Poppins"/>
              </a:defRPr>
            </a:pPr>
            <a:r>
              <a:t>Wave 2: Capturing Morning Wonder &amp; Voice 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533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350" b="0">
                <a:solidFill>
                  <a:srgbClr val="4A5868"/>
                </a:solidFill>
                <a:latin typeface="Poppins"/>
              </a:defRPr>
            </a:pPr>
            <a:r>
              <a:t>Expanding into new daily rituals—from the moment you wake up to tactile, screen-free voice gaming.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38528"/>
            <a:ext cx="516636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121408"/>
            <a:ext cx="4709160" cy="2240280"/>
          </a:xfrm>
          <a:prstGeom prst="roundRect">
            <a:avLst>
              <a:gd name="adj" fmla="val 4000"/>
            </a:avLst>
          </a:prstGeom>
          <a:solidFill>
            <a:srgbClr val="EDF2EE"/>
          </a:solidFill>
          <a:ln w="15875">
            <a:solidFill>
              <a:srgbClr val="6A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4388" y="2784348"/>
            <a:ext cx="512064" cy="512064"/>
          </a:xfrm>
          <a:prstGeom prst="ellipse">
            <a:avLst/>
          </a:prstGeom>
          <a:solidFill>
            <a:srgbClr val="F0F4EF"/>
          </a:solidFill>
          <a:ln w="12700">
            <a:solidFill>
              <a:srgbClr val="6A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4388" y="2802635"/>
            <a:ext cx="512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defRPr sz="1600" b="1">
                <a:solidFill>
                  <a:srgbClr val="6A52BA"/>
                </a:solidFill>
                <a:latin typeface="Poppins"/>
              </a:defRPr>
            </a:pPr>
            <a: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87851"/>
            <a:ext cx="4160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200" b="1">
                <a:solidFill>
                  <a:srgbClr val="111822"/>
                </a:solidFill>
                <a:latin typeface="Poppins"/>
              </a:defRPr>
            </a:pPr>
            <a:r>
              <a:t>[ Product Image Placeholder · Dream Printer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6217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000" b="0">
                <a:solidFill>
                  <a:srgbClr val="7C8A98"/>
                </a:solidFill>
                <a:latin typeface="Poppins"/>
              </a:defRPr>
            </a:pPr>
            <a:r>
              <a:t>Drop bedside alarm-clock form factor &amp; dream diary UI image 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498848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F0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517136"/>
            <a:ext cx="18196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defRPr sz="850" b="1">
                <a:solidFill>
                  <a:srgbClr val="6A52BA"/>
                </a:solidFill>
                <a:latin typeface="Poppins"/>
              </a:defRPr>
            </a:pPr>
            <a:r>
              <a:t>H1 2027 · PROTOTYPING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28032"/>
            <a:ext cx="4709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700" b="1">
                <a:solidFill>
                  <a:srgbClr val="111822"/>
                </a:solidFill>
                <a:latin typeface="Poppins"/>
              </a:defRPr>
            </a:pPr>
            <a:r>
              <a:t>Dream Printer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93792"/>
            <a:ext cx="4709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900">
                <a:solidFill>
                  <a:srgbClr val="6A52BA"/>
                </a:solidFill>
                <a:latin typeface="Poppins"/>
              </a:rPr>
              <a:t>●  </a:t>
            </a:r>
            <a:r>
              <a:rPr sz="1100" b="1">
                <a:solidFill>
                  <a:srgbClr val="111822"/>
                </a:solidFill>
                <a:latin typeface="Poppins"/>
              </a:rPr>
              <a:t>One-Press Morning Ritual: </a:t>
            </a:r>
            <a:r>
              <a:rPr sz="1100" b="0">
                <a:solidFill>
                  <a:srgbClr val="4A5868"/>
                </a:solidFill>
                <a:latin typeface="Poppins"/>
              </a:rPr>
              <a:t>Wake up, press a button, and speak your dream aloud; generates dream art + audio transcript.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900">
                <a:solidFill>
                  <a:srgbClr val="6A52BA"/>
                </a:solidFill>
                <a:latin typeface="Poppins"/>
              </a:rPr>
              <a:t>●  </a:t>
            </a:r>
            <a:r>
              <a:rPr sz="1100" b="1">
                <a:solidFill>
                  <a:srgbClr val="111822"/>
                </a:solidFill>
                <a:latin typeface="Poppins"/>
              </a:rPr>
              <a:t>Living Dream Diary: </a:t>
            </a:r>
            <a:r>
              <a:rPr sz="1100" b="0">
                <a:solidFill>
                  <a:srgbClr val="4A5868"/>
                </a:solidFill>
                <a:latin typeface="Poppins"/>
              </a:rPr>
              <a:t>Co-weaves fragments into stories and surfaces hidden threads across past dreams.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1938528"/>
            <a:ext cx="516636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73952" y="2121408"/>
            <a:ext cx="4709160" cy="2240280"/>
          </a:xfrm>
          <a:prstGeom prst="roundRect">
            <a:avLst>
              <a:gd name="adj" fmla="val 4000"/>
            </a:avLst>
          </a:prstGeom>
          <a:solidFill>
            <a:srgbClr val="EDF2EE"/>
          </a:solidFill>
          <a:ln w="15875">
            <a:solidFill>
              <a:srgbClr val="B476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72500" y="2784348"/>
            <a:ext cx="512064" cy="512064"/>
          </a:xfrm>
          <a:prstGeom prst="ellipse">
            <a:avLst/>
          </a:prstGeom>
          <a:solidFill>
            <a:srgbClr val="F0F4EF"/>
          </a:solidFill>
          <a:ln w="12700">
            <a:solidFill>
              <a:srgbClr val="B476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500" y="2802635"/>
            <a:ext cx="512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defRPr sz="1600" b="1">
                <a:solidFill>
                  <a:srgbClr val="B47618"/>
                </a:solidFill>
                <a:latin typeface="Poppins"/>
              </a:defRPr>
            </a:pPr>
            <a: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3387851"/>
            <a:ext cx="4160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200" b="1">
                <a:solidFill>
                  <a:srgbClr val="111822"/>
                </a:solidFill>
                <a:latin typeface="Poppins"/>
              </a:defRPr>
            </a:pPr>
            <a:r>
              <a:t>[ Product Image Placeholder · Voice Adventure Walkie-Talkie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66217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000" b="0">
                <a:solidFill>
                  <a:srgbClr val="7C8A98"/>
                </a:solidFill>
                <a:latin typeface="Poppins"/>
              </a:defRPr>
            </a:pPr>
            <a:r>
              <a:t>Drop handheld walkie-talkie gaming hardware image here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4498848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F0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4517136"/>
            <a:ext cx="18196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defRPr sz="850" b="1">
                <a:solidFill>
                  <a:srgbClr val="B47618"/>
                </a:solidFill>
                <a:latin typeface="Poppins"/>
              </a:defRPr>
            </a:pPr>
            <a:r>
              <a:t>H1 2027 · PROTOTYPING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828032"/>
            <a:ext cx="4709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700" b="1">
                <a:solidFill>
                  <a:srgbClr val="111822"/>
                </a:solidFill>
                <a:latin typeface="Poppins"/>
              </a:defRPr>
            </a:pPr>
            <a:r>
              <a:t>Tactile Voice Gaming Walkie-Talkie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193792"/>
            <a:ext cx="4709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900">
                <a:solidFill>
                  <a:srgbClr val="B47618"/>
                </a:solidFill>
                <a:latin typeface="Poppins"/>
              </a:rPr>
              <a:t>●  </a:t>
            </a:r>
            <a:r>
              <a:rPr sz="1100" b="1">
                <a:solidFill>
                  <a:srgbClr val="111822"/>
                </a:solidFill>
                <a:latin typeface="Poppins"/>
              </a:rPr>
              <a:t>A Stranded Friend on the Line: </a:t>
            </a:r>
            <a:r>
              <a:rPr sz="1100" b="0">
                <a:solidFill>
                  <a:srgbClr val="4A5868"/>
                </a:solidFill>
                <a:latin typeface="Poppins"/>
              </a:rPr>
              <a:t>A live character trapped on an alien planet or escape room calls for your help.</a:t>
            </a:r>
          </a:p>
          <a:p>
            <a:pPr>
              <a:lnSpc>
                <a:spcPct val="132000"/>
              </a:lnSpc>
              <a:spcAft>
                <a:spcPts val="600"/>
              </a:spcAft>
            </a:pPr>
            <a:r>
              <a:rPr sz="900">
                <a:solidFill>
                  <a:srgbClr val="B47618"/>
                </a:solidFill>
                <a:latin typeface="Poppins"/>
              </a:rPr>
              <a:t>●  </a:t>
            </a:r>
            <a:r>
              <a:rPr sz="1100" b="1">
                <a:solidFill>
                  <a:srgbClr val="111822"/>
                </a:solidFill>
                <a:latin typeface="Poppins"/>
              </a:rPr>
              <a:t>100% Voice Co-Op: </a:t>
            </a:r>
            <a:r>
              <a:rPr sz="1100" b="0">
                <a:solidFill>
                  <a:srgbClr val="4A5868"/>
                </a:solidFill>
                <a:latin typeface="Poppins"/>
              </a:rPr>
              <a:t>Calm them down, guide exploration, and solve unfolding incidents together to advance.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00" b="1">
                <a:solidFill>
                  <a:srgbClr val="5C8E12"/>
                </a:solidFill>
                <a:latin typeface="Poppins"/>
              </a:defRPr>
            </a:pPr>
            <a:r>
              <a:t>06 · H1 2027 PIPELINE · CURRENTLY IN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57200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1500" b="1">
                <a:solidFill>
                  <a:srgbClr val="4A5868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5" name="Oval 4"/>
          <p:cNvSpPr/>
          <p:nvPr/>
        </p:nvSpPr>
        <p:spPr>
          <a:xfrm>
            <a:off x="11292840" y="566928"/>
            <a:ext cx="82296" cy="82296"/>
          </a:xfrm>
          <a:prstGeom prst="ellipse">
            <a:avLst/>
          </a:prstGeom>
          <a:solidFill>
            <a:srgbClr val="CAF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950" b="0">
                <a:solidFill>
                  <a:srgbClr val="7C8A98"/>
                </a:solidFill>
                <a:latin typeface="Poppins"/>
              </a:defRPr>
            </a:pPr>
            <a:r>
              <a:t>07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04672"/>
            <a:ext cx="9875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111822"/>
                </a:solidFill>
                <a:latin typeface="Poppins"/>
              </a:defRPr>
            </a:pPr>
            <a:r>
              <a:t>Wave 2 Spotlight: E-Ink Children’s Story Doodle Pad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533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350" b="0">
                <a:solidFill>
                  <a:srgbClr val="4A5868"/>
                </a:solidFill>
                <a:latin typeface="Poppins"/>
              </a:defRPr>
            </a:pPr>
            <a:r>
              <a:t>How children should experience AI—long before they even know what 'AI' means.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470916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2212848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E6F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231136"/>
            <a:ext cx="1911095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defRPr sz="850" b="1">
                <a:solidFill>
                  <a:srgbClr val="365C0A"/>
                </a:solidFill>
                <a:latin typeface="Poppins"/>
              </a:defRPr>
            </a:pPr>
            <a:r>
              <a:t>H1 2027 · PROTOTYPING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33472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2000" b="1">
                <a:solidFill>
                  <a:srgbClr val="111822"/>
                </a:solidFill>
                <a:latin typeface="Poppins"/>
              </a:defRPr>
            </a:pPr>
            <a:r>
              <a:t>Eye-Friendly E-Ink Doodle Pad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90672"/>
            <a:ext cx="4160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200" b="0">
                <a:solidFill>
                  <a:srgbClr val="4A5868"/>
                </a:solidFill>
                <a:latin typeface="Poppins"/>
              </a:defRPr>
            </a:pPr>
            <a:r>
              <a:t>A calm, paper-like canvas that meets every child’s sketch or handwritten curiosity on their own terms.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22191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950">
                <a:solidFill>
                  <a:srgbClr val="268466"/>
                </a:solidFill>
                <a:latin typeface="Poppins"/>
              </a:rPr>
              <a:t>●  </a:t>
            </a:r>
            <a:r>
              <a:rPr sz="1150" b="1">
                <a:solidFill>
                  <a:srgbClr val="111822"/>
                </a:solidFill>
                <a:latin typeface="Poppins"/>
              </a:rPr>
              <a:t>Doodle-to-Comic Co-Creation: </a:t>
            </a:r>
            <a:r>
              <a:rPr sz="1150" b="0">
                <a:solidFill>
                  <a:srgbClr val="4A5868"/>
                </a:solidFill>
                <a:latin typeface="Poppins"/>
              </a:rPr>
              <a:t>Turns a child’s sketch into the opening scene of a multi-panel comic story—collaborating back and forth.</a:t>
            </a:r>
          </a:p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950">
                <a:solidFill>
                  <a:srgbClr val="268466"/>
                </a:solidFill>
                <a:latin typeface="Poppins"/>
              </a:rPr>
              <a:t>●  </a:t>
            </a:r>
            <a:r>
              <a:rPr sz="1150" b="1">
                <a:solidFill>
                  <a:srgbClr val="111822"/>
                </a:solidFill>
                <a:latin typeface="Poppins"/>
              </a:rPr>
              <a:t>Visual Q&amp;A by Drawing: </a:t>
            </a:r>
            <a:r>
              <a:rPr sz="1150" b="0">
                <a:solidFill>
                  <a:srgbClr val="4A5868"/>
                </a:solidFill>
                <a:latin typeface="Poppins"/>
              </a:rPr>
              <a:t>Kids can jot down a question or draw what they’re wondering about and receive a gentle, illustrated answer.</a:t>
            </a:r>
          </a:p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950">
                <a:solidFill>
                  <a:srgbClr val="268466"/>
                </a:solidFill>
                <a:latin typeface="Poppins"/>
              </a:rPr>
              <a:t>●  </a:t>
            </a:r>
            <a:r>
              <a:rPr sz="1150" b="1">
                <a:solidFill>
                  <a:srgbClr val="111822"/>
                </a:solidFill>
                <a:latin typeface="Poppins"/>
              </a:rPr>
              <a:t>Screen-Time Without Burnout: </a:t>
            </a:r>
            <a:r>
              <a:rPr sz="1150" b="0">
                <a:solidFill>
                  <a:srgbClr val="4A5868"/>
                </a:solidFill>
                <a:latin typeface="Poppins"/>
              </a:rPr>
              <a:t>Glare-free E-Ink hardware built for open-ended imagination, not addictive video loops.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2432" y="1965960"/>
            <a:ext cx="5669280" cy="4297680"/>
          </a:xfrm>
          <a:prstGeom prst="roundRect">
            <a:avLst>
              <a:gd name="adj" fmla="val 4000"/>
            </a:avLst>
          </a:prstGeom>
          <a:solidFill>
            <a:srgbClr val="EDF2EE"/>
          </a:solidFill>
          <a:ln w="15875">
            <a:solidFill>
              <a:srgbClr val="26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3657600"/>
            <a:ext cx="512064" cy="512064"/>
          </a:xfrm>
          <a:prstGeom prst="ellipse">
            <a:avLst/>
          </a:prstGeom>
          <a:solidFill>
            <a:srgbClr val="F0F4EF"/>
          </a:solidFill>
          <a:ln w="12700">
            <a:solidFill>
              <a:srgbClr val="26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675888"/>
            <a:ext cx="512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defRPr sz="1600" b="1">
                <a:solidFill>
                  <a:srgbClr val="268466"/>
                </a:solidFill>
                <a:latin typeface="Poppins"/>
              </a:defRPr>
            </a:pPr>
            <a: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426110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200" b="1">
                <a:solidFill>
                  <a:srgbClr val="111822"/>
                </a:solidFill>
                <a:latin typeface="Poppins"/>
              </a:defRPr>
            </a:pPr>
            <a:r>
              <a:t>[ Hero Image Placeholder · E-Ink Kids’ Story Doodle Pad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45354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000" b="0">
                <a:solidFill>
                  <a:srgbClr val="7C8A98"/>
                </a:solidFill>
                <a:latin typeface="Poppins"/>
              </a:defRPr>
            </a:pPr>
            <a:r>
              <a:t>Drop large product photo + sample child doodle-to-comic interaction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00" b="1">
                <a:solidFill>
                  <a:srgbClr val="5C8E12"/>
                </a:solidFill>
                <a:latin typeface="Poppins"/>
              </a:defRPr>
            </a:pPr>
            <a:r>
              <a:t>07 · THE COMPOUNDING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57200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1500" b="1">
                <a:solidFill>
                  <a:srgbClr val="4A5868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5" name="Oval 4"/>
          <p:cNvSpPr/>
          <p:nvPr/>
        </p:nvSpPr>
        <p:spPr>
          <a:xfrm>
            <a:off x="11292840" y="566928"/>
            <a:ext cx="82296" cy="82296"/>
          </a:xfrm>
          <a:prstGeom prst="ellipse">
            <a:avLst/>
          </a:prstGeom>
          <a:solidFill>
            <a:srgbClr val="CAF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950" b="0">
                <a:solidFill>
                  <a:srgbClr val="7C8A98"/>
                </a:solidFill>
                <a:latin typeface="Poppins"/>
              </a:defRPr>
            </a:pPr>
            <a:r>
              <a:t>08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04672"/>
            <a:ext cx="9875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111822"/>
                </a:solidFill>
                <a:latin typeface="Poppins"/>
              </a:defRPr>
            </a:pPr>
            <a:r>
              <a:t>Capturing the Data That Doesn’t Exist on the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533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350" b="0">
                <a:solidFill>
                  <a:srgbClr val="4A5868"/>
                </a:solidFill>
                <a:latin typeface="Poppins"/>
              </a:defRPr>
            </a:pPr>
            <a:r>
              <a:t>Public web data teaches AI how to work. Only our hardware portfolio captures how humans play, wonder, and laugh.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11680"/>
            <a:ext cx="34290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5C8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1">
                <a:solidFill>
                  <a:srgbClr val="5C8E12"/>
                </a:solidFill>
                <a:latin typeface="Poppins"/>
              </a:defRPr>
            </a:pPr>
            <a:r>
              <a:t>STEP 01 · PORTFOLIO 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5176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900" b="1">
                <a:solidFill>
                  <a:srgbClr val="111822"/>
                </a:solidFill>
                <a:latin typeface="Poppins"/>
              </a:defRPr>
            </a:pPr>
            <a:r>
              <a:t>6–10 New Products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29000"/>
            <a:ext cx="28803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4A5868"/>
                </a:solidFill>
                <a:latin typeface="Poppins"/>
              </a:defRPr>
            </a:pPr>
            <a:r>
              <a:t>Backed by a deep backlog of form factors, we launch 6–10 distinct Fun AI devices every year on our shared backend.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1" y="5349240"/>
            <a:ext cx="2916936" cy="502920"/>
          </a:xfrm>
          <a:prstGeom prst="roundRect">
            <a:avLst>
              <a:gd name="adj" fmla="val 4000"/>
            </a:avLst>
          </a:prstGeom>
          <a:solidFill>
            <a:srgbClr val="F0F4E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5468112"/>
            <a:ext cx="2734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050" b="1">
                <a:solidFill>
                  <a:srgbClr val="5C8E12"/>
                </a:solidFill>
                <a:latin typeface="Poppins"/>
              </a:defRPr>
            </a:pPr>
            <a:r>
              <a:t>Low $150K–$200K CapEx per bet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011680"/>
            <a:ext cx="34290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6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4296" y="228600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1">
                <a:solidFill>
                  <a:srgbClr val="268466"/>
                </a:solidFill>
                <a:latin typeface="Poppins"/>
              </a:defRPr>
            </a:pPr>
            <a:r>
              <a:t>STEP 02 · PROPRIETARY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265176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900" b="1">
                <a:solidFill>
                  <a:srgbClr val="111822"/>
                </a:solidFill>
                <a:latin typeface="Poppins"/>
              </a:defRPr>
            </a:pPr>
            <a:r>
              <a:t>Spontaneous Joy &amp; Play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3429000"/>
            <a:ext cx="28803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4A5868"/>
                </a:solidFill>
                <a:latin typeface="Poppins"/>
              </a:defRPr>
            </a:pPr>
            <a:r>
              <a:t>We capture how people interact with AI when seeking happiness, stories, and companionship—signals absent from the open web.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36008" y="5349240"/>
            <a:ext cx="2916936" cy="502920"/>
          </a:xfrm>
          <a:prstGeom prst="roundRect">
            <a:avLst>
              <a:gd name="adj" fmla="val 4000"/>
            </a:avLst>
          </a:prstGeom>
          <a:solidFill>
            <a:srgbClr val="F0F4E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8" y="5468112"/>
            <a:ext cx="2734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050" b="1">
                <a:solidFill>
                  <a:srgbClr val="268466"/>
                </a:solidFill>
                <a:latin typeface="Poppins"/>
              </a:defRPr>
            </a:pPr>
            <a:r>
              <a:t>100% exclusive first-party telemetry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2011680"/>
            <a:ext cx="34290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6A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228600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1">
                <a:solidFill>
                  <a:srgbClr val="6A52BA"/>
                </a:solidFill>
                <a:latin typeface="Poppins"/>
              </a:defRPr>
            </a:pPr>
            <a:r>
              <a:t>STEP 03 · COMPOUNDING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265176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900" b="1">
                <a:solidFill>
                  <a:srgbClr val="111822"/>
                </a:solidFill>
                <a:latin typeface="Poppins"/>
              </a:defRPr>
            </a:pPr>
            <a:r>
              <a:t>The Only Real “Fun AI”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3429000"/>
            <a:ext cx="28803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4A5868"/>
                </a:solidFill>
                <a:latin typeface="Poppins"/>
              </a:defRPr>
            </a:pPr>
            <a:r>
              <a:t>Every conversation across every device makes our shared backend wittier, warmer, and more human—widening our moat daily.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38744" y="5349240"/>
            <a:ext cx="2916936" cy="502920"/>
          </a:xfrm>
          <a:prstGeom prst="roundRect">
            <a:avLst>
              <a:gd name="adj" fmla="val 4000"/>
            </a:avLst>
          </a:prstGeom>
          <a:solidFill>
            <a:srgbClr val="F0F4E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4" y="5468112"/>
            <a:ext cx="2734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defRPr sz="1050" b="1">
                <a:solidFill>
                  <a:srgbClr val="6A52BA"/>
                </a:solidFill>
                <a:latin typeface="Poppins"/>
              </a:defRPr>
            </a:pPr>
            <a:r>
              <a:t>Higher retention &amp; subscription LTV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defRPr sz="1000" b="1">
                <a:solidFill>
                  <a:srgbClr val="5C8E12"/>
                </a:solidFill>
                <a:latin typeface="Poppins"/>
              </a:defRPr>
            </a:pPr>
            <a:r>
              <a:t>08 · THE BANRAI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457200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1500" b="1">
                <a:solidFill>
                  <a:srgbClr val="4A5868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5" name="Oval 4"/>
          <p:cNvSpPr/>
          <p:nvPr/>
        </p:nvSpPr>
        <p:spPr>
          <a:xfrm>
            <a:off x="11292840" y="566928"/>
            <a:ext cx="82296" cy="82296"/>
          </a:xfrm>
          <a:prstGeom prst="ellipse">
            <a:avLst/>
          </a:prstGeom>
          <a:solidFill>
            <a:srgbClr val="CAF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3276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950" b="0">
                <a:solidFill>
                  <a:srgbClr val="7C8A98"/>
                </a:solidFill>
                <a:latin typeface="Poppins"/>
              </a:defRPr>
            </a:pPr>
            <a:r>
              <a:t>09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04672"/>
            <a:ext cx="9875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111822"/>
                </a:solidFill>
                <a:latin typeface="Poppins"/>
              </a:defRPr>
            </a:pPr>
            <a:r>
              <a:t>Delightfully Useless. Commercially Unstoppable.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533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350" b="0">
                <a:solidFill>
                  <a:srgbClr val="4A5868"/>
                </a:solidFill>
                <a:latin typeface="Poppins"/>
              </a:defRPr>
            </a:pPr>
            <a:r>
              <a:t>A counter-trend consumer AI ecosystem built for recurring subscription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342900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212848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1">
                <a:solidFill>
                  <a:srgbClr val="5C8E12"/>
                </a:solidFill>
                <a:latin typeface="Poppins"/>
              </a:defRPr>
            </a:pPr>
            <a:r>
              <a:t>WHITE-SPACE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542032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600" b="1">
                <a:solidFill>
                  <a:srgbClr val="111822"/>
                </a:solidFill>
                <a:latin typeface="Poppins"/>
              </a:defRPr>
            </a:pPr>
            <a:r>
              <a:t>Fun AI &gt; Functional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035808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defRPr sz="1150" b="0">
                <a:solidFill>
                  <a:srgbClr val="4A5868"/>
                </a:solidFill>
                <a:latin typeface="Poppins"/>
              </a:defRPr>
            </a:pPr>
            <a:r>
              <a:t>Owning daily consumer joy, imagination, and voice companionship while the rest of tech fights over enterprise tasks.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965960"/>
            <a:ext cx="342900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212848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1">
                <a:solidFill>
                  <a:srgbClr val="268466"/>
                </a:solidFill>
                <a:latin typeface="Poppins"/>
              </a:defRPr>
            </a:pPr>
            <a:r>
              <a:t>DISCIPLINED HARDWARE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542032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600" b="1">
                <a:solidFill>
                  <a:srgbClr val="111822"/>
                </a:solidFill>
                <a:latin typeface="Poppins"/>
              </a:defRPr>
            </a:pPr>
            <a:r>
              <a:t>$150K–$200K · &lt; 9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35808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defRPr sz="1150" b="0">
                <a:solidFill>
                  <a:srgbClr val="4A5868"/>
                </a:solidFill>
                <a:latin typeface="Poppins"/>
              </a:defRPr>
            </a:pPr>
            <a:r>
              <a:t>1,000 US units launched in under 9 months per product—powered by a single reusable AI + subscription backend.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2" y="1965960"/>
            <a:ext cx="342900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212848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950" b="1">
                <a:solidFill>
                  <a:srgbClr val="6A52BA"/>
                </a:solidFill>
                <a:latin typeface="Poppins"/>
              </a:defRPr>
            </a:pPr>
            <a:r>
              <a:t>IMMEDIATE US 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542032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600" b="1">
                <a:solidFill>
                  <a:srgbClr val="111822"/>
                </a:solidFill>
                <a:latin typeface="Poppins"/>
              </a:defRPr>
            </a:pPr>
            <a:r>
              <a:t>2 Launching · 3 Prototyping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3035808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defRPr sz="1150" b="0">
                <a:solidFill>
                  <a:srgbClr val="4A5868"/>
                </a:solidFill>
                <a:latin typeface="Poppins"/>
              </a:defRPr>
            </a:pPr>
            <a:r>
              <a:t>Photo Frame &amp; Pocket Bible shipping Dec 2026 (1K units each); Dream Printer, Walkie-Talkie &amp; Doodle Pad in H1 2027.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46320"/>
            <a:ext cx="10634472" cy="1371600"/>
          </a:xfrm>
          <a:prstGeom prst="roundRect">
            <a:avLst>
              <a:gd name="adj" fmla="val 4000"/>
            </a:avLst>
          </a:prstGeom>
          <a:solidFill>
            <a:srgbClr val="F0F4EF"/>
          </a:solidFill>
          <a:ln w="19050">
            <a:solidFill>
              <a:srgbClr val="5C8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166360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defRPr sz="1500" b="1">
                <a:solidFill>
                  <a:srgbClr val="4A5868"/>
                </a:solidFill>
                <a:latin typeface="Poppins"/>
              </a:defRPr>
            </a:pPr>
            <a:r>
              <a:t>Banrai</a:t>
            </a:r>
          </a:p>
        </p:txBody>
      </p:sp>
      <p:sp>
        <p:nvSpPr>
          <p:cNvPr id="23" name="Oval 22"/>
          <p:cNvSpPr/>
          <p:nvPr/>
        </p:nvSpPr>
        <p:spPr>
          <a:xfrm>
            <a:off x="2148839" y="5276088"/>
            <a:ext cx="82296" cy="82296"/>
          </a:xfrm>
          <a:prstGeom prst="ellipse">
            <a:avLst/>
          </a:prstGeom>
          <a:solidFill>
            <a:srgbClr val="CAF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559552"/>
            <a:ext cx="4114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600" b="1">
                <a:solidFill>
                  <a:srgbClr val="111822"/>
                </a:solidFill>
                <a:latin typeface="Poppins"/>
              </a:defRPr>
            </a:pPr>
            <a:r>
              <a:t>Make Humans Talk Again.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16636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5000"/>
              </a:lnSpc>
              <a:defRPr sz="1200" b="0">
                <a:solidFill>
                  <a:srgbClr val="4A5868"/>
                </a:solidFill>
                <a:latin typeface="Poppins"/>
              </a:defRPr>
            </a:pPr>
            <a:r>
              <a:t>banrai.ai   ·   hello@banrai.ai</a:t>
            </a:r>
            <a:br/>
            <a:r>
              <a:t>Seed+ Investor Presentation · US Consumer AI Ecosystem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